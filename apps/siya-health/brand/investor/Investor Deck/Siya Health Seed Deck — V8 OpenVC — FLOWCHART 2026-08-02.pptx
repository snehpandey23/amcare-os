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Company name big, descriptive tagline, no date (OpenVC rule).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Specific, undeniable problem for adults in longitudinal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= the operating model, built by doing.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SLIDE — patient journey flowchart is the hero for “what we deliver today.” NO vendor names (no Carepatron / Spruce / Creyos). NO Creyos report. NO three-column software mockup. “What we’re building” is concept text only with required label. Full vendor stack / Creyos sample belongs in the data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 title with real growth claim (Feb $30k → Jul $92k). No vanity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Differentiator slide.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ARPU + model + why-this-model, per OpenVC. $149/$79/$149 canonical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Bottom-up per ADHD-MARKET-SIZING-2026.md. Never cite $19B/$122B societal-burden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 Competition — categories only. One explicit difference sentence per row. Language locks: practice/workflow/protocol — no OS/platform/SiyaOS.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 GTM — process not channels. TX conversions from Google Ads only (TX_SEARCH_CONVERSIONS=None). CAC by August 30, 2026 — do not invent.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Hook/why-now. No AI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size + objective + use of proceeds (OpenVC funding-slide spec).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Names, roles, photos, specific achievements — OpenVC team-slide spec. Confirm bullet accuracy with founders.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stated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 rule: CEO's direct email — not care@/info@. Set CEO_EMAIL in the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00200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37"/>
                </a:solidFill>
                <a:latin typeface="Helvetica Neue"/>
              </a:rPr>
              <a:t>We started with patients.
Not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6570"/>
                </a:solidFill>
                <a:latin typeface="Helvetica Neue"/>
              </a:rPr>
              <a:t>Physician-led ADHD + primary care telehealth · four states (CA · TX · PA · FL)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Patients weren’t failing to find care.
Care was failing to follow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C6570"/>
                </a:solidFill>
                <a:latin typeface="Helvetica Neue"/>
              </a:rPr>
              <a:t>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C6570"/>
                </a:solidFill>
                <a:latin typeface="Helvetica Neue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Helvetica Neue"/>
              </a:rPr>
              <a:t>Pharmacy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Helvetica Neue"/>
              </a:rPr>
              <a:t>Follow-up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9288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Helvetica Neue"/>
              </a:rPr>
              <a:t>Refill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C6570"/>
                </a:solidFill>
                <a:latin typeface="Helvetica Neue"/>
              </a:rPr>
              <a:t>Life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570"/>
                </a:solidFill>
                <a:latin typeface="Helvetica Neue"/>
              </a:rPr>
              <a:t>Everyone optimizes the first visit.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Care actually breaks down at Pharmacy · Follow-up · Refill.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So we built the missing pieces ourselves.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Physicians  →  Operators  →  Systems builders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Multi-state licensure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83464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CA · TX · PA · FL — providers credentialed and compliant in every state we serve.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4904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Offshore clinical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88620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Hired, trained, and QA’d from scratch — scheduling, pharmacy coordination, patient follow-up.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0060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Standardized provider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493776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Protocols and SOPs shared across all providers and states — care doesn’t depend on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37"/>
                </a:solidFill>
                <a:latin typeface="Helvetica Neue"/>
              </a:rPr>
              <a:t>The care journey we run today — 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What we deliver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End-to-end ADHD care, held together by our protocols and clinical judgment — not by any single vendor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8F71"/>
                </a:solidFill>
                <a:latin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Helvetica Neue"/>
              </a:rPr>
              <a:t>Symptoms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5877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2331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423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8F71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Helvetica Neue"/>
              </a:rPr>
              <a:t>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5877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5384" y="2331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5384" y="2423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8F71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5384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Helvetica Neue"/>
              </a:rPr>
              <a:t>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144" y="25877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34456" y="2331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34456" y="2423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8F71"/>
                </a:solidFill>
                <a:latin typeface="Helvetica Neu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4456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Helvetica Neue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25877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53528" y="2331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3528" y="2423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8F71"/>
                </a:solidFill>
                <a:latin typeface="Helvetica Neue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8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Helvetica Neue"/>
              </a:rPr>
              <a:t>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5877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2331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423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8F71"/>
                </a:solidFill>
                <a:latin typeface="Helvetica Neue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Helvetica Neue"/>
              </a:rPr>
              <a:t>Execution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33756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520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Escalation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538728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Helvetica Neue"/>
              </a:rPr>
              <a:t>When care stalls — pharmacy hold, side effects, missed follow-up, refill risk — we escalate, re-enter Review → Plan → Execution, and close the loop. Continuity is the product of the process.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5720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6570"/>
                </a:solidFill>
                <a:latin typeface="Helvetica Neue"/>
              </a:rPr>
              <a:t>↻  Escalation feeds back into Review — care does not end at the first plan.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8348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What we’re building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30352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440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Helvetica Neue"/>
              </a:rPr>
              <a:t>Concept — in design, informed by workflows already validated in our practice.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Care Timeline → Provider Workspace → Refill / Follow-up queue — software that encodes this journey.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Helvetica Neue"/>
              </a:rPr>
              <a:t>Revenue nearly 3× since February.
Cash-flow positive.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688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606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2,000+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9992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Patients treated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4688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2606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1,000+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29992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ADHD evaluations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2044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657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150+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0507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Recurring 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52044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3657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600+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40507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Reviews · 4.8★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7200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7091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4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1023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CA · TX · PA · FL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57200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47091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Cash-flow+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51023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600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Monthly gross revenue —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965960"/>
            <a:ext cx="40233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0407" y="3458818"/>
            <a:ext cx="336237" cy="102174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3247" y="3184498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3247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Jan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9858" y="3518453"/>
            <a:ext cx="336237" cy="962107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2698" y="3244133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2698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Feb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9310" y="3240157"/>
            <a:ext cx="336237" cy="1240403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12150" y="2965837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2150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Mar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58761" y="3186486"/>
            <a:ext cx="336237" cy="129407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1601" y="2912166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47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1601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Apr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68212" y="2981740"/>
            <a:ext cx="336237" cy="149882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31052" y="270742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57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1052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May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77664" y="2610016"/>
            <a:ext cx="336237" cy="187054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0504" y="2335696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0504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Jun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87115" y="2286000"/>
            <a:ext cx="336237" cy="219456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49955" y="201168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92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49955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Jul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5349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$ thousands / month · gross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$378k+ gross 2026 YTD (Jan–Jul) · founder-confirmed books.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Where we are,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Our growth engine today is founder-led —
and it 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Helvetica Neue"/>
              </a:rPr>
              <a:t>Founder-led relationships and networking — on top of a full clinical load — fill all providers’ panels, not just the founder’s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Helvetica Neue"/>
              </a:rPr>
              <a:t>That is a key-person dependency. We say so plainly.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Helvetica Neue"/>
              </a:rPr>
              <a:t>This round funds clinical capacity and redundancy, so proven acquisition runs without routing every relationship through one person.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Proof + risk + fix — not a disclosure buried in an appendix.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Cash-pay, recurring, no insurance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B8F71"/>
                </a:solidFill>
                <a:latin typeface="Helvetica Neue"/>
              </a:rPr>
              <a:t>$149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Initial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Helvetica Neue"/>
              </a:rPr>
              <a:t>One-time, self-pay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23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B8F71"/>
                </a:solidFill>
                <a:latin typeface="Helvetica Neue"/>
              </a:rPr>
              <a:t>$79 /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Ongoing care — non-controlled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29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Helvetica Neue"/>
              </a:rPr>
              <a:t>Recurring membership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1945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23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B8F71"/>
                </a:solidFill>
                <a:latin typeface="Helvetica Neue"/>
              </a:rPr>
              <a:t>$149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17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Ongoing care — controlled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429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Helvetica Neue"/>
              </a:rPr>
              <a:t>Recurring membership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Helvetica Neue"/>
              </a:rPr>
              <a:t>Subscription-style continuity: 150+ recurring members and growing.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Helvetica Neue"/>
              </a:rPr>
              <a:t>Roughly $600 per patient-year in professional fees (bottom-up, competitor-benchmarked).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Helvetica Neue"/>
              </a:rPr>
              <a:t>Cash-pay means no payer contracts, no reimbursement risk, and revenue from day 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Market — bottom-up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15.5M diagnosed adults. $2.9B serviceable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570"/>
                </a:solidFill>
                <a:latin typeface="Helvetica Neue"/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103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570"/>
                </a:solidFill>
                <a:latin typeface="Helvetica Neue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570"/>
                </a:solidFill>
                <a:latin typeface="Helvetica Neue"/>
              </a:rPr>
              <a:t>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71576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U.S. adult ADHD clinical services (professional fees)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6791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8F71"/>
                </a:solidFill>
                <a:latin typeface="Helvetica Neue"/>
              </a:rPr>
              <a:t>~$10B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8328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66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58444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Adult ADHD virtual care (telehealth-willing, cash-pay comps)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5478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8F71"/>
                </a:solidFill>
                <a:latin typeface="Helvetica Neue"/>
              </a:rPr>
              <a:t>~$2.9B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5196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34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45312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Year-3, capacity-derived (~40 clinician FTEs)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44165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8F71"/>
                </a:solidFill>
                <a:latin typeface="Helvetica Neue"/>
              </a:rPr>
              <a:t>~$16M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570"/>
                </a:solidFill>
                <a:latin typeface="Helvetica Neue"/>
              </a:rPr>
              <a:t>Built bottom-up: 15.5M diagnosed U.S. adults (CDC) · ~half already use telehealth for ADHD · ~$600/patient-year professional fees.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570"/>
                </a:solidFill>
                <a:latin typeface="Helvetica Neue"/>
              </a:rPr>
              <a:t>No inflated blended TAM. Full sizing workbook available in diligence.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Helvetica Neue"/>
              </a:rPr>
              <a:t>Different job. Not a feature checklist.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025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Episodic telehealth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79" y="200253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Optimizes first-visit volume, not continuity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87752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07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Generic EHR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80720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Records history, doesn't guide next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92424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Point cognitive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61188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One-time score, not ongoing 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97096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16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Traditional psychiatry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4165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Access-limited, waitlist-bound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01768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212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Siya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522122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Continuity, evaluation through refill — 2,000+ patients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6570"/>
                </a:solidFill>
                <a:latin typeface="Helvetica Neue"/>
              </a:rPr>
              <a:t>No feature matrix. No “everyone top-right” quadrant. The difference is the job we 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Helvetica Neue"/>
              </a:rPr>
              <a:t>A process — not a channel wishlist.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01 ·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75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Primary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677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Founder-led relationships and networking fill all providers’ panels — not just the founder’s.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8892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53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02 · Live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9352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Texas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3030"/>
                </a:solidFill>
                <a:latin typeface="Helvetica Neue"/>
              </a:rPr>
              <a:t>Paid Search test live in Texas — [confirm conversion count from Google Ads before upload]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4904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13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03 · Transition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895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This round’s 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Add clinical capacity, then move from founder-led fill to systematic acquisition — reproduce Search TX → 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0916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737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04 ·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8554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No guessing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148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Full CAC and payback period confirmed by August 30,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The playbook is proven.
The environment rewards how we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Texas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7432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Search conversions proven — a repeatable acquisition playbook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California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474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Revenue growing — next market for the same playbook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Regulation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2062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Environment rewards protocolized, auditable care over low-touch mills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9377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SOPs, QA, and multi-state compliance already in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We’re raising $500k to scale a working practice.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951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Clinical capacity &amp; redundancy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791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More providers and coverage — directly reduces founder key-person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46120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29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924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Scale proven 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7764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Texas Search converts today. Reproduce the same playbook in California.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43400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26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4897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Working capital buffer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8737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Operate from strength, not desperation.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Objective: 18–24 months of runway to prove the playbook in a second state and remove key-person dependency.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Founders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Helvetica Neue"/>
              </a:rPr>
              <a:t>Physicians who built the practice before asking for capital.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52120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-sneh-pandey-fou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23160"/>
            <a:ext cx="1066205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9748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Helvetica Neue"/>
              </a:rPr>
              <a:t>Dr. Sneh Pandey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Founder ·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39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Board-certified physician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Tens of thousands of patient encounters — primary care, obesity, hospital medicine, ICU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Built multi-state practice to 2,000+ patients, cash-flow positive, bootstrapped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2120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r-swati-pand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423160"/>
            <a:ext cx="1066205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Helvetica Neue"/>
              </a:rPr>
              <a:t>Dr. Swati Pandey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Co-founder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77639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Board-certified physician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Co-built clinical protocols and provider workflows across four states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Leads clinical quality and patient-experience standards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Helvetica Neue"/>
              </a:rPr>
              <a:t>Years spent learning how to deliver better care.
This round scales what already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690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F2A37"/>
                </a:solidFill>
                <a:latin typeface="Helvetica Neue"/>
              </a:rPr>
              <a:t>$500,000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Helvetica Neue"/>
              </a:rPr>
              <a:t>Clinical capacity &amp; redundancy · Proven acquisition, next state · Working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80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65960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37"/>
                </a:solidFill>
                <a:latin typeface="Helvetica Neue"/>
              </a:rPr>
              <a:t>Let’s talk.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Helvetica Neue"/>
              </a:rPr>
              <a:t>Dr. Sneh Pandey · Founder &amp;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8F71"/>
                </a:solidFill>
                <a:latin typeface="Helvetica Neue"/>
              </a:rPr>
              <a:t>chiefservant@siya.health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570"/>
                </a:solidFill>
                <a:latin typeface="Helvetica Neue"/>
              </a:rPr>
              <a:t>siya.health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