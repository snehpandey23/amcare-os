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Company name big, descriptive tagline, no date (OpenVC rule).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 + founder pull-quote (not a card). Voice is first-person and unpolished on purpose — do not rewrite into consultant bullets.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= the operating model, built by doing.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 — PRIMARY visual is the patient-journey flowchart. SECONDARY is the concept wireframe (Care Timeline → Provider Workspace → Refill/Follow-up) with required concept label. NO vendor names (Carepatron/Spruce/Creyos). NO Creyos report. Wireframe must not overpower the flowchart.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Action title with real growth claim (Feb $30k → Jul $92k). No vanity 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Differentiator slide. Keep.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ARPU + model + why-this-model, per OpenVC. $149/$79/$149 canonical pricing.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Bottom-up per ADHD-MARKET-SIZING-2026.md. Never cite $19B/$122B societal-burden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OpenVC Competition — categories only. One explicit difference sentence per row. Language locks: practice/workflow/protocol — no OS/platform/SiyaOS.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OpenVC GTM — process not channels. No fabricated conversion count. Tracking finalized Aug 2, 2026; CAC by August 30,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Hook/why-now. No AI hype.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Round size + objective + use of proceeds (OpenVC funding-slide spec).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Founder-confirmed 2026-08-02. Sneh: 10,000+ encounters (not patients) at Siya Health — distinct from 2,000+ unique patients on Traction. Swati: PA license + clinical advisor framing.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stated plainly.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OpenVC rule: CEO's direct email — not care@/info@. Set CEO_EMAIL in the builder.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144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600200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0116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F2A37"/>
                </a:solidFill>
                <a:latin typeface="Helvetica Neue"/>
              </a:rPr>
              <a:t>We started with patients.
Not software.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0233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5C6570"/>
                </a:solidFill>
                <a:latin typeface="Helvetica Neue"/>
              </a:rPr>
              <a:t>Physician-led ADHD + primary care telehealth · four states (CA · TX · PA · FL)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C6570"/>
                </a:solidFill>
                <a:latin typeface="Helvetica Neue"/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8F71"/>
                </a:solidFill>
                <a:latin typeface="Helvetica Neue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70432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A37"/>
                </a:solidFill>
                <a:latin typeface="Helvetica Neue"/>
              </a:rPr>
              <a:t>Patients weren’t failing to find care.
Care was failing to follow them.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76272"/>
            <a:ext cx="16002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42316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5C6570"/>
                </a:solidFill>
                <a:latin typeface="Helvetica Neue"/>
              </a:rPr>
              <a:t>Visit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50008" y="24231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B8F71"/>
                </a:solidFill>
                <a:latin typeface="Helvetica Neue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87752" y="2176272"/>
            <a:ext cx="16002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87752" y="242316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5C6570"/>
                </a:solidFill>
                <a:latin typeface="Helvetica Neue"/>
              </a:rPr>
              <a:t>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24231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B8F71"/>
                </a:solidFill>
                <a:latin typeface="Helvetica Neue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8264" y="2176272"/>
            <a:ext cx="1600200" cy="960120"/>
          </a:xfrm>
          <a:prstGeom prst="roundRect">
            <a:avLst>
              <a:gd name="adj" fmla="val 8000"/>
            </a:avLst>
          </a:prstGeom>
          <a:solidFill>
            <a:srgbClr val="DC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8264" y="242316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F2A37"/>
                </a:solidFill>
                <a:latin typeface="Helvetica Neue"/>
              </a:rPr>
              <a:t>Pharmacy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71032" y="24231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B8F71"/>
                </a:solidFill>
                <a:latin typeface="Helvetica Neue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2176272"/>
            <a:ext cx="1600200" cy="960120"/>
          </a:xfrm>
          <a:prstGeom prst="roundRect">
            <a:avLst>
              <a:gd name="adj" fmla="val 8000"/>
            </a:avLst>
          </a:prstGeom>
          <a:solidFill>
            <a:srgbClr val="DC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08776" y="242316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F2A37"/>
                </a:solidFill>
                <a:latin typeface="Helvetica Neue"/>
              </a:rPr>
              <a:t>Follow-up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81544" y="24231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B8F71"/>
                </a:solidFill>
                <a:latin typeface="Helvetica Neue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9288" y="2176272"/>
            <a:ext cx="1600200" cy="960120"/>
          </a:xfrm>
          <a:prstGeom prst="roundRect">
            <a:avLst>
              <a:gd name="adj" fmla="val 8000"/>
            </a:avLst>
          </a:prstGeom>
          <a:solidFill>
            <a:srgbClr val="DC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19288" y="242316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F2A37"/>
                </a:solidFill>
                <a:latin typeface="Helvetica Neue"/>
              </a:rPr>
              <a:t>Refill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92056" y="24231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B8F71"/>
                </a:solidFill>
                <a:latin typeface="Helvetica Neue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29800" y="2176272"/>
            <a:ext cx="16002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29800" y="242316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5C6570"/>
                </a:solidFill>
                <a:latin typeface="Helvetica Neue"/>
              </a:rPr>
              <a:t>Life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24612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C6570"/>
                </a:solidFill>
                <a:latin typeface="Helvetica Neue"/>
              </a:rPr>
              <a:t>Everyone optimizes the first visit.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54787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2A37"/>
                </a:solidFill>
                <a:latin typeface="Helvetica Neue"/>
              </a:rPr>
              <a:t>Care actually breaks down at Pharmacy · Follow-up · Refill.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41648"/>
            <a:ext cx="64008" cy="162763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9848" y="4114800"/>
            <a:ext cx="1019556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1F2A37"/>
                </a:solidFill>
                <a:latin typeface="Georgia"/>
              </a:rPr>
              <a:t>I was strict about controlled substances in my own training, long before Siya existed. I'd read about companies getting sued for overprescribing, and I didn't want us to become another cautionary tale. So the pill counts, the random drug screens, the compliance formalities — none of that came from a regulation checklist. It came from not wanting my name attached to a company that cut corners on this.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" y="5340096"/>
            <a:ext cx="10195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C6570"/>
                </a:solidFill>
                <a:latin typeface="Helvetica Neue"/>
              </a:rPr>
              <a:t>— Dr. Sneh Pandey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C6570"/>
                </a:solidFill>
                <a:latin typeface="Helvetica Neue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8F71"/>
                </a:solidFill>
                <a:latin typeface="Helvetica Neue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2A37"/>
                </a:solidFill>
                <a:latin typeface="Helvetica Neue"/>
              </a:rPr>
              <a:t>So we built the missing pieces ourselves.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B8F71"/>
                </a:solidFill>
                <a:latin typeface="Helvetica Neue"/>
              </a:rPr>
              <a:t>Physicians  →  Operators  →  Systems builders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697480"/>
            <a:ext cx="10607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8346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2A37"/>
                </a:solidFill>
                <a:latin typeface="Helvetica Neue"/>
              </a:rPr>
              <a:t>Multi-state licensure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2834640"/>
            <a:ext cx="5852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C6570"/>
                </a:solidFill>
                <a:latin typeface="Helvetica Neue"/>
              </a:rPr>
              <a:t>CA · TX · PA · FL — providers credentialed and compliant in every state we serve.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749040"/>
            <a:ext cx="10607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862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2A37"/>
                </a:solidFill>
                <a:latin typeface="Helvetica Neue"/>
              </a:rPr>
              <a:t>Offshore clinical operations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3886200"/>
            <a:ext cx="5852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C6570"/>
                </a:solidFill>
                <a:latin typeface="Helvetica Neue"/>
              </a:rPr>
              <a:t>Hired, trained, and QA’d from scratch — scheduling, pharmacy coordination, patient follow-up.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800600"/>
            <a:ext cx="10607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93776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2A37"/>
                </a:solidFill>
                <a:latin typeface="Helvetica Neue"/>
              </a:rPr>
              <a:t>Standardized provider workflows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4937760"/>
            <a:ext cx="5852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C6570"/>
                </a:solidFill>
                <a:latin typeface="Helvetica Neue"/>
              </a:rPr>
              <a:t>Protocols and SOPs shared across all providers and states — care doesn’t depend on memory.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C6570"/>
                </a:solidFill>
                <a:latin typeface="Helvetica Neue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8F71"/>
                </a:solidFill>
                <a:latin typeface="Helvetica Neue"/>
              </a:rPr>
              <a:t>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2A37"/>
                </a:solidFill>
                <a:latin typeface="Helvetica Neue"/>
              </a:rPr>
              <a:t>The care journey we run today — end to 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8F71"/>
                </a:solidFill>
                <a:latin typeface="Helvetica Neue"/>
              </a:rPr>
              <a:t>What we deliver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10607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C6570"/>
                </a:solidFill>
                <a:latin typeface="Helvetica Neue"/>
              </a:rPr>
              <a:t>End-to-end ADHD care, held together by our protocols and clinical judgment.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11680"/>
            <a:ext cx="15544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8483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B8F71"/>
                </a:solidFill>
                <a:latin typeface="Helvetica Neue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317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F2A37"/>
                </a:solidFill>
                <a:latin typeface="Helvetica Neue"/>
              </a:rPr>
              <a:t>Symptoms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24028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8F71"/>
                </a:solidFill>
                <a:latin typeface="Helvetica Neue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96312" y="2011680"/>
            <a:ext cx="15544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96312" y="208483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B8F71"/>
                </a:solidFill>
                <a:latin typeface="Helvetica Neue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42032" y="23317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F2A37"/>
                </a:solidFill>
                <a:latin typeface="Helvetica Neue"/>
              </a:rPr>
              <a:t>Eval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05072" y="224028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8F71"/>
                </a:solidFill>
                <a:latin typeface="Helvetica Neue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15384" y="2011680"/>
            <a:ext cx="15544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15384" y="208483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B8F71"/>
                </a:solidFill>
                <a:latin typeface="Helvetica Neue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61104" y="23317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F2A37"/>
                </a:solidFill>
                <a:latin typeface="Helvetica Neue"/>
              </a:rPr>
              <a:t>Assessment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24144" y="224028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8F71"/>
                </a:solidFill>
                <a:latin typeface="Helvetica Neue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34456" y="2011680"/>
            <a:ext cx="15544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34456" y="208483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B8F71"/>
                </a:solidFill>
                <a:latin typeface="Helvetica Neue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0176" y="23317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F2A37"/>
                </a:solidFill>
                <a:latin typeface="Helvetica Neue"/>
              </a:rPr>
              <a:t>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43216" y="224028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8F71"/>
                </a:solidFill>
                <a:latin typeface="Helvetica Neue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53528" y="2011680"/>
            <a:ext cx="15544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53528" y="208483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B8F71"/>
                </a:solidFill>
                <a:latin typeface="Helvetica Neue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99248" y="23317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F2A37"/>
                </a:solidFill>
                <a:latin typeface="Helvetica Neue"/>
              </a:rPr>
              <a:t>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2288" y="224028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8F71"/>
                </a:solidFill>
                <a:latin typeface="Helvetica Neue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72600" y="2011680"/>
            <a:ext cx="15544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72600" y="208483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B8F71"/>
                </a:solidFill>
                <a:latin typeface="Helvetica Neue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23317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F2A37"/>
                </a:solidFill>
                <a:latin typeface="Helvetica Neue"/>
              </a:rPr>
              <a:t>Execute · monitor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2880360"/>
            <a:ext cx="10607040" cy="658368"/>
          </a:xfrm>
          <a:prstGeom prst="roundRect">
            <a:avLst>
              <a:gd name="adj" fmla="val 8000"/>
            </a:avLst>
          </a:prstGeom>
          <a:solidFill>
            <a:srgbClr val="DC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299923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8F71"/>
                </a:solidFill>
                <a:latin typeface="Helvetica Neue"/>
              </a:rPr>
              <a:t>Escalation branch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2999232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A37"/>
                </a:solidFill>
                <a:latin typeface="Helvetica Neue"/>
              </a:rPr>
              <a:t>When care stalls (pharmacy · side effects · missed follow-up · refill risk) → escalate → re-enter Review → Plan → Execute. Continuity is the process.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37033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8F71"/>
                </a:solidFill>
                <a:latin typeface="Helvetica Neue"/>
              </a:rPr>
              <a:t>What we’re building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3950208"/>
            <a:ext cx="10607040" cy="347472"/>
          </a:xfrm>
          <a:prstGeom prst="roundRect">
            <a:avLst>
              <a:gd name="adj" fmla="val 8000"/>
            </a:avLst>
          </a:prstGeom>
          <a:solidFill>
            <a:srgbClr val="DC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4023360"/>
            <a:ext cx="10149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A37"/>
                </a:solidFill>
                <a:latin typeface="Helvetica Neue"/>
              </a:rPr>
              <a:t>Concept — in design, informed by workflows already validated in our practice.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4434840"/>
            <a:ext cx="33832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4434840"/>
            <a:ext cx="3383280" cy="25603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6968" y="4471416"/>
            <a:ext cx="3154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elvetica Neue"/>
              </a:rPr>
              <a:t>Care Timeline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4782312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6570"/>
                </a:solidFill>
                <a:latin typeface="Helvetica Neue"/>
              </a:rPr>
              <a:t>·  Visit · 06/12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" y="5020056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6570"/>
                </a:solidFill>
                <a:latin typeface="Helvetica Neue"/>
              </a:rPr>
              <a:t>·  Plan shared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" y="5257800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6570"/>
                </a:solidFill>
                <a:latin typeface="Helvetica Neue"/>
              </a:rPr>
              <a:t>·  Follow-up due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5495544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6570"/>
                </a:solidFill>
                <a:latin typeface="Helvetica Neue"/>
              </a:rPr>
              <a:t>·  Refill request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23360" y="498348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8F71"/>
                </a:solidFill>
                <a:latin typeface="Helvetica Neue"/>
              </a:rPr>
              <a:t>→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89120" y="4434840"/>
            <a:ext cx="33832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389120" y="4434840"/>
            <a:ext cx="3383280" cy="25603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98848" y="4471416"/>
            <a:ext cx="3154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elvetica Neue"/>
              </a:rPr>
              <a:t>Provider Workspace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4782312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6570"/>
                </a:solidFill>
                <a:latin typeface="Helvetica Neue"/>
              </a:rPr>
              <a:t>·  Patient context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0" y="5020056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6570"/>
                </a:solidFill>
                <a:latin typeface="Helvetica Neue"/>
              </a:rPr>
              <a:t>·  Protocol checklist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0" y="5257800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6570"/>
                </a:solidFill>
                <a:latin typeface="Helvetica Neue"/>
              </a:rPr>
              <a:t>·  Next action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0" y="5495544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6570"/>
                </a:solidFill>
                <a:latin typeface="Helvetica Neue"/>
              </a:rPr>
              <a:t>·  Handoff ready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498348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8F71"/>
                </a:solidFill>
                <a:latin typeface="Helvetica Neue"/>
              </a:rPr>
              <a:t>→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001000" y="4434840"/>
            <a:ext cx="33832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001000" y="4434840"/>
            <a:ext cx="3383280" cy="25603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110728" y="4471416"/>
            <a:ext cx="3154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elvetica Neue"/>
              </a:rPr>
              <a:t>Refill / Follow-up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83880" y="4782312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6570"/>
                </a:solidFill>
                <a:latin typeface="Helvetica Neue"/>
              </a:rPr>
              <a:t>·  Queue · open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83880" y="5020056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6570"/>
                </a:solidFill>
                <a:latin typeface="Helvetica Neue"/>
              </a:rPr>
              <a:t>·  Pharmacy hold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83880" y="5257800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6570"/>
                </a:solidFill>
                <a:latin typeface="Helvetica Neue"/>
              </a:rPr>
              <a:t>·  Due this week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83880" y="5495544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6570"/>
                </a:solidFill>
                <a:latin typeface="Helvetica Neue"/>
              </a:rPr>
              <a:t>·  Closed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7240" y="598932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C6570"/>
                </a:solidFill>
                <a:latin typeface="Helvetica Neue"/>
              </a:rPr>
              <a:t>Flowchart = care we run today. Wireframe = software encoding that journey (supporting).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C6570"/>
                </a:solidFill>
                <a:latin typeface="Helvetica Neue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8F71"/>
                </a:solidFill>
                <a:latin typeface="Helvetica Neue"/>
              </a:rPr>
              <a:t>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6400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A37"/>
                </a:solidFill>
                <a:latin typeface="Helvetica Neue"/>
              </a:rPr>
              <a:t>Revenue nearly 3× since February.
Cash-flow positive.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468880"/>
            <a:ext cx="2880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60604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A37"/>
                </a:solidFill>
                <a:latin typeface="Helvetica Neue"/>
              </a:rPr>
              <a:t>2,000+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99923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C6570"/>
                </a:solidFill>
                <a:latin typeface="Helvetica Neue"/>
              </a:rPr>
              <a:t>Patients treated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2468880"/>
            <a:ext cx="2880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05072" y="260604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A37"/>
                </a:solidFill>
                <a:latin typeface="Helvetica Neue"/>
              </a:rPr>
              <a:t>1,000+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05072" y="299923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C6570"/>
                </a:solidFill>
                <a:latin typeface="Helvetica Neue"/>
              </a:rPr>
              <a:t>ADHD evaluations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520440"/>
            <a:ext cx="2880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365760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A37"/>
                </a:solidFill>
                <a:latin typeface="Helvetica Neue"/>
              </a:rPr>
              <a:t>150+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405079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C6570"/>
                </a:solidFill>
                <a:latin typeface="Helvetica Neue"/>
              </a:rPr>
              <a:t>Recurring members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0" y="3520440"/>
            <a:ext cx="2880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05072" y="365760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A37"/>
                </a:solidFill>
                <a:latin typeface="Helvetica Neue"/>
              </a:rPr>
              <a:t>600+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05072" y="405079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C6570"/>
                </a:solidFill>
                <a:latin typeface="Helvetica Neue"/>
              </a:rPr>
              <a:t>Reviews · 4.8★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572000"/>
            <a:ext cx="2880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470916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A37"/>
                </a:solidFill>
                <a:latin typeface="Helvetica Neue"/>
              </a:rPr>
              <a:t>4 states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510235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C6570"/>
                </a:solidFill>
                <a:latin typeface="Helvetica Neue"/>
              </a:rPr>
              <a:t>CA · TX · PA · FL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0" y="4572000"/>
            <a:ext cx="2880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05072" y="470916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A37"/>
                </a:solidFill>
                <a:latin typeface="Helvetica Neue"/>
              </a:rPr>
              <a:t>Cash-flow+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05072" y="510235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C6570"/>
                </a:solidFill>
                <a:latin typeface="Helvetica Neue"/>
              </a:rPr>
              <a:t>Operations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16002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A37"/>
                </a:solidFill>
                <a:latin typeface="Helvetica Neue"/>
              </a:rPr>
              <a:t>Monthly gross revenue — 2026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1965960"/>
            <a:ext cx="4023360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30407" y="3458818"/>
            <a:ext cx="336237" cy="102174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3247" y="3184498"/>
            <a:ext cx="61055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F2A37"/>
                </a:solidFill>
                <a:latin typeface="Helvetica Neue"/>
              </a:rPr>
              <a:t>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3247" y="4572000"/>
            <a:ext cx="61055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C6570"/>
                </a:solidFill>
                <a:latin typeface="Helvetica Neue"/>
              </a:rPr>
              <a:t>Jan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9858" y="3518453"/>
            <a:ext cx="336237" cy="962107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2698" y="3244133"/>
            <a:ext cx="61055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F2A37"/>
                </a:solidFill>
                <a:latin typeface="Helvetica Neue"/>
              </a:rPr>
              <a:t>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2698" y="4572000"/>
            <a:ext cx="61055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C6570"/>
                </a:solidFill>
                <a:latin typeface="Helvetica Neue"/>
              </a:rPr>
              <a:t>Feb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49310" y="3240157"/>
            <a:ext cx="336237" cy="1240403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12150" y="2965837"/>
            <a:ext cx="61055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F2A37"/>
                </a:solidFill>
                <a:latin typeface="Helvetica Neue"/>
              </a:rPr>
              <a:t>44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12150" y="4572000"/>
            <a:ext cx="61055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C6570"/>
                </a:solidFill>
                <a:latin typeface="Helvetica Neue"/>
              </a:rPr>
              <a:t>Mar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58761" y="3186486"/>
            <a:ext cx="336237" cy="1294074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21601" y="2912166"/>
            <a:ext cx="61055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F2A37"/>
                </a:solidFill>
                <a:latin typeface="Helvetica Neue"/>
              </a:rPr>
              <a:t>47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21601" y="4572000"/>
            <a:ext cx="61055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C6570"/>
                </a:solidFill>
                <a:latin typeface="Helvetica Neue"/>
              </a:rPr>
              <a:t>Apr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68212" y="2981740"/>
            <a:ext cx="336237" cy="1498820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31052" y="2707420"/>
            <a:ext cx="61055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F2A37"/>
                </a:solidFill>
                <a:latin typeface="Helvetica Neue"/>
              </a:rPr>
              <a:t>57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31052" y="4572000"/>
            <a:ext cx="61055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C6570"/>
                </a:solidFill>
                <a:latin typeface="Helvetica Neue"/>
              </a:rPr>
              <a:t>May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177664" y="2610016"/>
            <a:ext cx="336237" cy="1870544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40504" y="2335696"/>
            <a:ext cx="61055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F2A37"/>
                </a:solidFill>
                <a:latin typeface="Helvetica Neue"/>
              </a:rPr>
              <a:t>76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40504" y="4572000"/>
            <a:ext cx="61055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C6570"/>
                </a:solidFill>
                <a:latin typeface="Helvetica Neue"/>
              </a:rPr>
              <a:t>Jun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687115" y="2286000"/>
            <a:ext cx="336237" cy="2194560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49955" y="2011680"/>
            <a:ext cx="61055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F2A37"/>
                </a:solidFill>
                <a:latin typeface="Helvetica Neue"/>
              </a:rPr>
              <a:t>92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49955" y="4572000"/>
            <a:ext cx="61055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C6570"/>
                </a:solidFill>
                <a:latin typeface="Helvetica Neue"/>
              </a:rPr>
              <a:t>Jul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0" y="534924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6570"/>
                </a:solidFill>
                <a:latin typeface="Helvetica Neue"/>
              </a:rPr>
              <a:t>$ thousands / month · gross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54864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2A37"/>
                </a:solidFill>
                <a:latin typeface="Helvetica Neue"/>
              </a:rPr>
              <a:t>$378k+ gross 2026 YTD (Jan–Jul) · founder-confirmed books.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C6570"/>
                </a:solidFill>
                <a:latin typeface="Helvetica Neue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8F71"/>
                </a:solidFill>
                <a:latin typeface="Helvetica Neue"/>
              </a:rPr>
              <a:t>Where we are, honestly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2A37"/>
                </a:solidFill>
                <a:latin typeface="Helvetica Neue"/>
              </a:rPr>
              <a:t>Our growth engine today is founder-led —
and it works.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743200"/>
            <a:ext cx="3429000" cy="2468880"/>
          </a:xfrm>
          <a:prstGeom prst="roundRect">
            <a:avLst>
              <a:gd name="adj" fmla="val 8000"/>
            </a:avLst>
          </a:prstGeom>
          <a:solidFill>
            <a:srgbClr val="DC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9718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B8F71"/>
                </a:solidFill>
                <a:latin typeface="Helvetica Neue"/>
              </a:rPr>
              <a:t>Proof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429000"/>
            <a:ext cx="2880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A37"/>
                </a:solidFill>
                <a:latin typeface="Helvetica Neue"/>
              </a:rPr>
              <a:t>Founder-led relationships and networking — on top of a full clinical load — fill all providers’ panels, not just the founder’s own.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743200"/>
            <a:ext cx="342900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9718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B8F71"/>
                </a:solidFill>
                <a:latin typeface="Helvetica Neue"/>
              </a:rPr>
              <a:t>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429000"/>
            <a:ext cx="2880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A37"/>
                </a:solidFill>
                <a:latin typeface="Helvetica Neue"/>
              </a:rPr>
              <a:t>That is a key-person dependency. We say so plainly.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2743200"/>
            <a:ext cx="3429000" cy="2468880"/>
          </a:xfrm>
          <a:prstGeom prst="roundRect">
            <a:avLst>
              <a:gd name="adj" fmla="val 8000"/>
            </a:avLst>
          </a:prstGeom>
          <a:solidFill>
            <a:srgbClr val="DC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29718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B8F71"/>
                </a:solidFill>
                <a:latin typeface="Helvetica Neue"/>
              </a:rPr>
              <a:t>Fix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3429000"/>
            <a:ext cx="2880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A37"/>
                </a:solidFill>
                <a:latin typeface="Helvetica Neue"/>
              </a:rPr>
              <a:t>This round funds clinical capacity and redundancy, so proven acquisition runs without routing every relationship through one person.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486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2A37"/>
                </a:solidFill>
                <a:latin typeface="Helvetica Neue"/>
              </a:rPr>
              <a:t>Proof + risk + fix — not a disclosure buried in an appendix.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C6570"/>
                </a:solidFill>
                <a:latin typeface="Helvetica Neue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8F71"/>
                </a:solidFill>
                <a:latin typeface="Helvetica Neue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2A37"/>
                </a:solidFill>
                <a:latin typeface="Helvetica Neue"/>
              </a:rPr>
              <a:t>Cash-pay, recurring, no insurance risk.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94560"/>
            <a:ext cx="34290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6B8F71"/>
                </a:solidFill>
                <a:latin typeface="Helvetica Neue"/>
              </a:rPr>
              <a:t>$149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01752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A37"/>
                </a:solidFill>
                <a:latin typeface="Helvetica Neue"/>
              </a:rPr>
              <a:t>Initial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42900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C6570"/>
                </a:solidFill>
                <a:latin typeface="Helvetica Neue"/>
              </a:rPr>
              <a:t>One-time, self-pay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194560"/>
            <a:ext cx="34290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42316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6B8F71"/>
                </a:solidFill>
                <a:latin typeface="Helvetica Neue"/>
              </a:rPr>
              <a:t>$79 / 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01752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A37"/>
                </a:solidFill>
                <a:latin typeface="Helvetica Neue"/>
              </a:rPr>
              <a:t>Ongoing care — non-controlled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42900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C6570"/>
                </a:solidFill>
                <a:latin typeface="Helvetica Neue"/>
              </a:rPr>
              <a:t>Recurring membership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2194560"/>
            <a:ext cx="34290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242316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6B8F71"/>
                </a:solidFill>
                <a:latin typeface="Helvetica Neue"/>
              </a:rPr>
              <a:t>$149 / 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01752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A37"/>
                </a:solidFill>
                <a:latin typeface="Helvetica Neue"/>
              </a:rPr>
              <a:t>Ongoing care — controlled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42900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C6570"/>
                </a:solidFill>
                <a:latin typeface="Helvetica Neue"/>
              </a:rPr>
              <a:t>Recurring membership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2976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A37"/>
                </a:solidFill>
                <a:latin typeface="Helvetica Neue"/>
              </a:rPr>
              <a:t>Subscription-style continuity: 150+ recurring members and growing.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A37"/>
                </a:solidFill>
                <a:latin typeface="Helvetica Neue"/>
              </a:rPr>
              <a:t>Roughly $600 per patient-year in professional fees (bottom-up, competitor-benchmarked).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A37"/>
                </a:solidFill>
                <a:latin typeface="Helvetica Neue"/>
              </a:rPr>
              <a:t>Cash-pay means no payer contracts, no reimbursement risk, and revenue from day one.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C6570"/>
                </a:solidFill>
                <a:latin typeface="Helvetica Neue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8F71"/>
                </a:solidFill>
                <a:latin typeface="Helvetica Neue"/>
              </a:rPr>
              <a:t>Market — bottom-up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2A37"/>
                </a:solidFill>
                <a:latin typeface="Helvetica Neue"/>
              </a:rPr>
              <a:t>15.5M diagnosed adults. $2.9B serviceable today.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C6570"/>
                </a:solidFill>
                <a:latin typeface="Helvetica Neue"/>
              </a:rPr>
              <a:t>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21031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C6570"/>
                </a:solidFill>
                <a:latin typeface="Helvetica Neue"/>
              </a:rPr>
              <a:t>Definition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2103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C6570"/>
                </a:solidFill>
                <a:latin typeface="Helvetica Neue"/>
              </a:rPr>
              <a:t>Size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514600"/>
            <a:ext cx="106070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6974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2A37"/>
                </a:solidFill>
                <a:latin typeface="Helvetica Neue"/>
              </a:rPr>
              <a:t>TAM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715768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A37"/>
                </a:solidFill>
                <a:latin typeface="Helvetica Neue"/>
              </a:rPr>
              <a:t>U.S. adult ADHD clinical services (professional fees)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72600" y="267919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B8F71"/>
                </a:solidFill>
                <a:latin typeface="Helvetica Neue"/>
              </a:rPr>
              <a:t>~$10B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383280"/>
            <a:ext cx="10607040" cy="731520"/>
          </a:xfrm>
          <a:prstGeom prst="roundRect">
            <a:avLst>
              <a:gd name="adj" fmla="val 8000"/>
            </a:avLst>
          </a:prstGeom>
          <a:solidFill>
            <a:srgbClr val="DC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5661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2A37"/>
                </a:solidFill>
                <a:latin typeface="Helvetica Neue"/>
              </a:rPr>
              <a:t>SAM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3584448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A37"/>
                </a:solidFill>
                <a:latin typeface="Helvetica Neue"/>
              </a:rPr>
              <a:t>Adult ADHD virtual care (telehealth-willing, cash-pay comps)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354787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B8F71"/>
                </a:solidFill>
                <a:latin typeface="Helvetica Neue"/>
              </a:rPr>
              <a:t>~$2.9B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251960"/>
            <a:ext cx="106070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4348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2A37"/>
                </a:solidFill>
                <a:latin typeface="Helvetica Neue"/>
              </a:rPr>
              <a:t>SOM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4453128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A37"/>
                </a:solidFill>
                <a:latin typeface="Helvetica Neue"/>
              </a:rPr>
              <a:t>Year-3, capacity-derived (~40 clinician FTEs)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441655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B8F71"/>
                </a:solidFill>
                <a:latin typeface="Helvetica Neue"/>
              </a:rPr>
              <a:t>~$16M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34924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C6570"/>
                </a:solidFill>
                <a:latin typeface="Helvetica Neue"/>
              </a:rPr>
              <a:t>Built bottom-up: 15.5M diagnosed U.S. adults (CDC) · ~half already use telehealth for ADHD · ~$600/patient-year professional fees.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C6570"/>
                </a:solidFill>
                <a:latin typeface="Helvetica Neue"/>
              </a:rPr>
              <a:t>No inflated blended TAM. Full sizing workbook available in diligence.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C6570"/>
                </a:solidFill>
                <a:latin typeface="Helvetica Neue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8F71"/>
                </a:solidFill>
                <a:latin typeface="Helvetica Neue"/>
              </a:rPr>
              <a:t>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A37"/>
                </a:solidFill>
                <a:latin typeface="Helvetica Neue"/>
              </a:rPr>
              <a:t>Different job. Not a feature checklist.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1060704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0253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A37"/>
                </a:solidFill>
                <a:latin typeface="Helvetica Neue"/>
              </a:rPr>
              <a:t>Episodic telehealth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79" y="2002536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A37"/>
                </a:solidFill>
                <a:latin typeface="Helvetica Neue"/>
              </a:rPr>
              <a:t>Optimizes first-visit volume, not continuity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587752"/>
            <a:ext cx="1060704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8072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A37"/>
                </a:solidFill>
                <a:latin typeface="Helvetica Neue"/>
              </a:rPr>
              <a:t>Generic EHR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79" y="2807208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A37"/>
                </a:solidFill>
                <a:latin typeface="Helvetica Neue"/>
              </a:rPr>
              <a:t>Records history, doesn't guide next 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92424"/>
            <a:ext cx="1060704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611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A37"/>
                </a:solidFill>
                <a:latin typeface="Helvetica Neue"/>
              </a:rPr>
              <a:t>Point cognitive 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79" y="3611880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A37"/>
                </a:solidFill>
                <a:latin typeface="Helvetica Neue"/>
              </a:rPr>
              <a:t>One-time score, not ongoing care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197096"/>
            <a:ext cx="1060704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4165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A37"/>
                </a:solidFill>
                <a:latin typeface="Helvetica Neue"/>
              </a:rPr>
              <a:t>Traditional psychiatry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79" y="4416552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A37"/>
                </a:solidFill>
                <a:latin typeface="Helvetica Neue"/>
              </a:rPr>
              <a:t>Access-limited, waitlist-bound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001768"/>
            <a:ext cx="10607040" cy="713232"/>
          </a:xfrm>
          <a:prstGeom prst="roundRect">
            <a:avLst>
              <a:gd name="adj" fmla="val 8000"/>
            </a:avLst>
          </a:prstGeom>
          <a:solidFill>
            <a:srgbClr val="DC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22122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8F71"/>
                </a:solidFill>
                <a:latin typeface="Helvetica Neue"/>
              </a:rPr>
              <a:t>Siya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79" y="5221224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A37"/>
                </a:solidFill>
                <a:latin typeface="Helvetica Neue"/>
              </a:rPr>
              <a:t>Continuity, evaluation through refill — 2,000+ patients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89788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C6570"/>
                </a:solidFill>
                <a:latin typeface="Helvetica Neue"/>
              </a:rPr>
              <a:t>No feature matrix. No “everyone top-right” quadrant. The difference is the job we do.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C6570"/>
                </a:solidFill>
                <a:latin typeface="Helvetica Neue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8F71"/>
                </a:solidFill>
                <a:latin typeface="Helvetica Neue"/>
              </a:rPr>
              <a:t>Go-to-market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A37"/>
                </a:solidFill>
                <a:latin typeface="Helvetica Neue"/>
              </a:rPr>
              <a:t>A process — not a channel wishlist.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10607040" cy="841248"/>
          </a:xfrm>
          <a:prstGeom prst="roundRect">
            <a:avLst>
              <a:gd name="adj" fmla="val 8000"/>
            </a:avLst>
          </a:prstGeom>
          <a:solidFill>
            <a:srgbClr val="DC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9339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8F71"/>
                </a:solidFill>
                <a:latin typeface="Helvetica Neue"/>
              </a:rPr>
              <a:t>01 ·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197510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2A37"/>
                </a:solidFill>
                <a:latin typeface="Helvetica Neue"/>
              </a:rPr>
              <a:t>Primary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26771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C6570"/>
                </a:solidFill>
                <a:latin typeface="Helvetica Neue"/>
              </a:rPr>
              <a:t>Founder-led relationships and networking fill all providers’ panels — not just the founder’s.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788920"/>
            <a:ext cx="1060704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95351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8F71"/>
                </a:solidFill>
                <a:latin typeface="Helvetica Neue"/>
              </a:rPr>
              <a:t>02 · Live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93522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2A37"/>
                </a:solidFill>
                <a:latin typeface="Helvetica Neue"/>
              </a:rPr>
              <a:t>Texas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C6570"/>
                </a:solidFill>
                <a:latin typeface="Helvetica Neue"/>
              </a:rPr>
              <a:t>Paid Search live in Texas; conversion tracking finalized Aug 2, 2026.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749040"/>
            <a:ext cx="1060704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91363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8F71"/>
                </a:solidFill>
                <a:latin typeface="Helvetica Neue"/>
              </a:rPr>
              <a:t>03 · Transition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389534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2A37"/>
                </a:solidFill>
                <a:latin typeface="Helvetica Neue"/>
              </a:rPr>
              <a:t>This round’s job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C6570"/>
                </a:solidFill>
                <a:latin typeface="Helvetica Neue"/>
              </a:rPr>
              <a:t>Add clinical capacity, then move from founder-led fill to systematic acquisition — reproduce Search TX → CA.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709160"/>
            <a:ext cx="1060704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87375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8F71"/>
                </a:solidFill>
                <a:latin typeface="Helvetica Neue"/>
              </a:rPr>
              <a:t>04 · Measurement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485546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2A37"/>
                </a:solidFill>
                <a:latin typeface="Helvetica Neue"/>
              </a:rPr>
              <a:t>No guessing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14807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C6570"/>
                </a:solidFill>
                <a:latin typeface="Helvetica Neue"/>
              </a:rPr>
              <a:t>Full CAC and payback period confirmed by August 30, 2026.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C6570"/>
                </a:solidFill>
                <a:latin typeface="Helvetica Neue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8F71"/>
                </a:solidFill>
                <a:latin typeface="Helvetica Neue"/>
              </a:rPr>
              <a:t>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2A37"/>
                </a:solidFill>
                <a:latin typeface="Helvetica Neue"/>
              </a:rPr>
              <a:t>The playbook is proven.
The environment rewards how we practice.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43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B8F71"/>
                </a:solidFill>
                <a:latin typeface="Helvetica Neue"/>
              </a:rPr>
              <a:t>Texas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360" y="274320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F2A37"/>
                </a:solidFill>
                <a:latin typeface="Helvetica Neue"/>
              </a:rPr>
              <a:t>Early conversions confirmed in Texas — full CAC by Aug 30,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474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B8F71"/>
                </a:solidFill>
                <a:latin typeface="Helvetica Neue"/>
              </a:rPr>
              <a:t>California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347472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F2A37"/>
                </a:solidFill>
                <a:latin typeface="Helvetica Neue"/>
              </a:rPr>
              <a:t>Revenue growing — next market for the same playbook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206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B8F71"/>
                </a:solidFill>
                <a:latin typeface="Helvetica Neue"/>
              </a:rPr>
              <a:t>Regulation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420624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F2A37"/>
                </a:solidFill>
                <a:latin typeface="Helvetica Neue"/>
              </a:rPr>
              <a:t>Environment rewards protocolized, auditable care over low-touch mills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937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B8F71"/>
                </a:solidFill>
                <a:latin typeface="Helvetica Neue"/>
              </a:rPr>
              <a:t>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493776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F2A37"/>
                </a:solidFill>
                <a:latin typeface="Helvetica Neue"/>
              </a:rPr>
              <a:t>SOPs, QA, and multi-state compliance already in place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C6570"/>
                </a:solidFill>
                <a:latin typeface="Helvetica Neue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8F71"/>
                </a:solidFill>
                <a:latin typeface="Helvetica Neue"/>
              </a:rPr>
              <a:t>Use of funds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2A37"/>
                </a:solidFill>
                <a:latin typeface="Helvetica Neue"/>
              </a:rPr>
              <a:t>We’re raising $500k to scale a working practice.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48840"/>
            <a:ext cx="106070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3317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8F71"/>
                </a:solidFill>
                <a:latin typeface="Helvetica Neue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29514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2A37"/>
                </a:solidFill>
                <a:latin typeface="Helvetica Neue"/>
              </a:rPr>
              <a:t>Clinical capacity &amp; redundancy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6791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C6570"/>
                </a:solidFill>
                <a:latin typeface="Helvetica Neue"/>
              </a:rPr>
              <a:t>More providers and coverage — directly reduces founder key-person risk.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246120"/>
            <a:ext cx="106070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4290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8F71"/>
                </a:solidFill>
                <a:latin typeface="Helvetica Neue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39242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2A37"/>
                </a:solidFill>
                <a:latin typeface="Helvetica Neue"/>
              </a:rPr>
              <a:t>Scale proven acquisition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77647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C6570"/>
                </a:solidFill>
                <a:latin typeface="Helvetica Neue"/>
              </a:rPr>
              <a:t>Early conversions confirmed in Texas — full CAC by Aug 30, 2026.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343400"/>
            <a:ext cx="106070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262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8F71"/>
                </a:solidFill>
                <a:latin typeface="Helvetica Neue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48970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2A37"/>
                </a:solidFill>
                <a:latin typeface="Helvetica Neue"/>
              </a:rPr>
              <a:t>Working capital buffer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48737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C6570"/>
                </a:solidFill>
                <a:latin typeface="Helvetica Neue"/>
              </a:rPr>
              <a:t>Operate from strength, not desperation.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53212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A37"/>
                </a:solidFill>
                <a:latin typeface="Helvetica Neue"/>
              </a:rPr>
              <a:t>Objective: 18–24 months of runway to prove the playbook in a second state and remove key-person dependency.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C6570"/>
                </a:solidFill>
                <a:latin typeface="Helvetica Neue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8F71"/>
                </a:solidFill>
                <a:latin typeface="Helvetica Neue"/>
              </a:rPr>
              <a:t>Founders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A37"/>
                </a:solidFill>
                <a:latin typeface="Helvetica Neue"/>
              </a:rPr>
              <a:t>Physicians who built the practice before asking for capital.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03120"/>
            <a:ext cx="521208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r-sneh-pandey-fou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423160"/>
            <a:ext cx="1066205" cy="1371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697480" y="2514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2A37"/>
                </a:solidFill>
                <a:latin typeface="Helvetica Neue"/>
              </a:rPr>
              <a:t>Dr. Sneh Pandey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29260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8F71"/>
                </a:solidFill>
                <a:latin typeface="Helvetica Neue"/>
              </a:rPr>
              <a:t>Founder · CEO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977639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5C6570"/>
                </a:solidFill>
                <a:latin typeface="Helvetica Neue"/>
              </a:rPr>
              <a:t>·  Board-certified physician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5C6570"/>
                </a:solidFill>
                <a:latin typeface="Helvetica Neue"/>
              </a:rPr>
              <a:t>·  10,000+ patient encounters at Siya Health across primary care, obesity, hospital medicine, and ADHD care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5C6570"/>
                </a:solidFill>
                <a:latin typeface="Helvetica Neue"/>
              </a:rPr>
              <a:t>·  Built multi-state practice to 2,000+ patients, cash-flow positive, bootstrapped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103120"/>
            <a:ext cx="521208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r-swati-pand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2423160"/>
            <a:ext cx="1066205" cy="1371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138160" y="2514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2A37"/>
                </a:solidFill>
                <a:latin typeface="Helvetica Neue"/>
              </a:rPr>
              <a:t>Dr. Swati Pandey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9260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8F71"/>
                </a:solidFill>
                <a:latin typeface="Helvetica Neue"/>
              </a:rPr>
              <a:t>Co-founder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977639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5C6570"/>
                </a:solidFill>
                <a:latin typeface="Helvetica Neue"/>
              </a:rPr>
              <a:t>·  Board-certified physician, licensed in Pennsylvania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5C6570"/>
                </a:solidFill>
                <a:latin typeface="Helvetica Neue"/>
              </a:rPr>
              <a:t>·  Co-founder and clinical advisor — shapes clinical protocol standards across Siya Health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C6570"/>
                </a:solidFill>
                <a:latin typeface="Helvetica Neue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F2A37"/>
                </a:solidFill>
                <a:latin typeface="Helvetica Neue"/>
              </a:rPr>
              <a:t>Years spent learning how to deliver better care.
This round scales what already works.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657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B8F71"/>
                </a:solidFill>
                <a:latin typeface="Helvetica Neue"/>
              </a:rPr>
              <a:t>Seed 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06908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1F2A37"/>
                </a:solidFill>
                <a:latin typeface="Helvetica Neue"/>
              </a:rPr>
              <a:t>$500,000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120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C6570"/>
                </a:solidFill>
                <a:latin typeface="Helvetica Neue"/>
              </a:rPr>
              <a:t>Clinical capacity &amp; redundancy · Proven acquisition, next state · Working capital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C6570"/>
                </a:solidFill>
                <a:latin typeface="Helvetica Neue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280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965960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F2A37"/>
                </a:solidFill>
                <a:latin typeface="Helvetica Neue"/>
              </a:rPr>
              <a:t>Let’s talk.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6576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2A37"/>
                </a:solidFill>
                <a:latin typeface="Helvetica Neue"/>
              </a:rPr>
              <a:t>Dr. Sneh Pandey · Founder &amp; CEO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60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6B8F71"/>
                </a:solidFill>
                <a:latin typeface="Helvetica Neue"/>
              </a:rPr>
              <a:t>chiefservant@siya.health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754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C6570"/>
                </a:solidFill>
                <a:latin typeface="Helvetica Neue"/>
              </a:rPr>
              <a:t>siya.health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C6570"/>
                </a:solidFill>
                <a:latin typeface="Helvetica Neue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