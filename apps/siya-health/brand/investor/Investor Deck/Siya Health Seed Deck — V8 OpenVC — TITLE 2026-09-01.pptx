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missing care layer before/during/after. Friend story not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frame — three phases. Detail on slides 3–5.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Pre-visit failure mode + concierge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At-the-visit failure mode + concierge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Post-visit + people-first → technology-later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Traction locked 2026-09-01. Retention placeholder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risk + fractional COO already in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Cash-pay model + MSO structure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sizing locked 2026-09-01. ADHD + insomnia bottom-up.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Competition categories — clinical depth + concierge, not feature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GTM: capacity this round; COO already in motion; no dated Ads CAC.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now — longitudinal screening insight + capacity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of funds $300k / $100k / $100k — footer language must match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Founders + compliance pull-quote under Sneh. Friend story stays on slide 1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footer must match Use of Funds category labels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OpenVC: CEO direct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0876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We didn't build a clinic. We built the layer of care that was always missing — before, during, and after the visit.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C6570"/>
                </a:solidFill>
                <a:latin typeface="Helvetica Neue"/>
              </a:rPr>
              <a:t>Physician-led telehealth · care that follows through, before and after the visit · multi-state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The doctor makes the right care plan.
The patient doesn't always get to live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C6570"/>
                </a:solidFill>
                <a:latin typeface="Helvetica Neue"/>
              </a:rPr>
              <a:t>Care breaks down across three phases — before the visit, during it, and after. Not because of missing technology. Because of missing follow-through.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80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2A37"/>
                </a:solidFill>
                <a:latin typeface="Helvetica Neue"/>
              </a:rPr>
              <a:t>Pre-visit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480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2A37"/>
                </a:solidFill>
                <a:latin typeface="Helvetica Neue"/>
              </a:rPr>
              <a:t>At the visit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480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2A37"/>
                </a:solidFill>
                <a:latin typeface="Helvetica Neue"/>
              </a:rPr>
              <a:t>Post-visit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Pre-visit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Before the visit, the wrong patients get through — and the right ones don't show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5059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Poor eligibility review → mismatched expectations, refunds, chargebacks, bad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No personalized reminders → no-shows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69080"/>
            <a:ext cx="10607040" cy="169164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Our concierge team reviews eligibility before booking and calls patients personally to confirm.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At the 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During the visit, the doctor is doing admin work instead of practicing medicine.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5059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Incomplete intake → doctor manually gathers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No documentation/order support → less patient-facing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69080"/>
            <a:ext cx="10607040" cy="169164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Our concierge team pre-builds the intake summary and scribes live, so the doctor's time is spent only on the patient.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Post-visit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After the visit, care quietly falls apart.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75104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Pharmacy coordination failures → prescriptions don't reach the patient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42032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8833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·  No structured follow-up → low compliance, interrupted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83280"/>
            <a:ext cx="10607040" cy="1325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930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Our concierge team owns pharmacy coordination and structured follow-up — checking in, explaining what to expect, catching problems before they interrupt care.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570"/>
                </a:solidFill>
                <a:latin typeface="Helvetica Neue"/>
              </a:rPr>
              <a:t>Today, we've solved this with trained people operating disciplined protocols on top of existing tools. As those protocols mature, they become the blueprint for technology we build ourselves — proven first, encoded second.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Revenue growing steadily since February.
Cash-flow positive.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2,700+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Patients treated (growing)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19456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1,200+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Neurocognitive evaluations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8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2918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4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6850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Multi-state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154680"/>
            <a:ext cx="2880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32918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Cash-flow+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36850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325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Monthly gross revenue —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69164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0407" y="2952750"/>
            <a:ext cx="336237" cy="93345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3247" y="269671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3247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9858" y="3006091"/>
            <a:ext cx="336237" cy="880109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2698" y="2750059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2698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Feb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9310" y="2766060"/>
            <a:ext cx="336237" cy="112014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2150" y="251002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2150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Mar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8761" y="2846070"/>
            <a:ext cx="336237" cy="104013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21601" y="259003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1601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Apr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68212" y="2632710"/>
            <a:ext cx="336237" cy="125349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1052" y="237667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1052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May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77664" y="2205990"/>
            <a:ext cx="336237" cy="168021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504" y="194995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504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87115" y="1965960"/>
            <a:ext cx="336237" cy="192024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49955" y="1709928"/>
            <a:ext cx="61055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2A37"/>
                </a:solidFill>
                <a:latin typeface="Helvetica Neue"/>
              </a:rPr>
              <a:t>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9955" y="397764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6570"/>
                </a:solidFill>
                <a:latin typeface="Helvetica Neue"/>
              </a:rPr>
              <a:t>Jul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Reviews: 4.9★ on Google (100+ reviews) · 4.75★ average across 600+ third-party provider 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663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No-shows: Declining trend Q4 2025–Q1/Q2 2026 as trained MAs and automated reminders took effect — now plateaued, pointing to factors beyond reminders we're actively addressing next.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3949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C6570"/>
                </a:solidFill>
                <a:latin typeface="Helvetica Neue"/>
              </a:rPr>
              <a:t>[Retention: 3-month cohort data pending final team calculation — leave placeholder, do not fabricate]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Where we are,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We saw the risk before you did —
and we're already fixing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Founder-led relationships filled every provider's panel, not just the founder's own. It worked — 2,700+ patients prove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060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375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One person's time doesn't scale. We knew that going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6060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8346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375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September 2026 — a fractional COO joined, already driving fundraising readiness and employer/B2B pipeline. This round adds the clinical capacity to match.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A37"/>
                </a:solidFill>
                <a:latin typeface="Helvetica Neue"/>
              </a:rPr>
              <a:t>Cash-pay, recurring, no insurance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8F71"/>
                </a:solidFill>
                <a:latin typeface="Helvetica Neue"/>
              </a:rPr>
              <a:t>$149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Initial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One-time, self-pay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8F71"/>
                </a:solidFill>
                <a:latin typeface="Helvetica Neue"/>
              </a:rPr>
              <a:t>$79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Ongoing care — non-controlled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2024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8F71"/>
                </a:solidFill>
                <a:latin typeface="Helvetica Neue"/>
              </a:rPr>
              <a:t>$149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51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A37"/>
                </a:solidFill>
                <a:latin typeface="Helvetica Neue"/>
              </a:rPr>
              <a:t>Ongoing care — controlled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0175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570"/>
                </a:solidFill>
                <a:latin typeface="Helvetica Neue"/>
              </a:rPr>
              <a:t>Siya Health Inc (MSO) + affiliated professional corporation(s) — standard, legally reviewed structure. B2B/employer pricing and MSO management-fee terms are being finalized as the company adds affiliated providers and employer partnerships.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150+ recurring members and growing. Cash-pay means no payer contracts, no reimbursement risk, revenue from day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Market —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A37"/>
                </a:solidFill>
                <a:latin typeface="Helvetica Neue"/>
              </a:rPr>
              <a:t>21.7M working adults live with a diagnosable condition affecting attention, sleep, or focus — most of them undiagnosed or untreated.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0574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6570"/>
                </a:solidFill>
                <a:latin typeface="Helvetica Neue"/>
              </a:rPr>
              <a:t>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8775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US clinical services for adult ADHD + clinical insomnia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58775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~$18B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040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83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36499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Employed adults with either condition, telehealth-willing, cash-pay comparable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6499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~21.7M people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7764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14223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Helvetica Neue"/>
              </a:rPr>
              <a:t>Year-3, capacity-derived — 8–10 full-time providers at ~800 patients 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14223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8F71"/>
                </a:solidFill>
                <a:latin typeface="Helvetica Neue"/>
              </a:rPr>
              <a:t>~$3.8M–4.8M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6570"/>
                </a:solidFill>
                <a:latin typeface="Helvetica Neue"/>
              </a:rPr>
              <a:t>Built bottom-up: 163M employed U.S. adults (BLS 2026) · 15.5M diagnosed adult ADHD, 63% employed · ~10% clinical insomnia disorder among employed adults · overlap-adjusted (44% ADHD/insomnia comorbidity, per published clinical data). Existing independent contractor network (8 providers) represents additional capacity not included in this Year-3 estimate. Full sizing methodology available in diligence.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Different job. Not a feature checklist.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Employer mental-health platforms
(e.g. Lyra Health)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93852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Broad coverage, not built for objective, condition-specific clinical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620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Generic access &amp; counseling
(EAPs, episodic telehealth)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89864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Gets you seen once. No structured monitoring, no concierge follow-through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5760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DTC brain-training / wellness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85876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Games and self-assessment. Not clinical, no escalation if something real is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1772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8231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81888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Helvetica Neue"/>
              </a:rPr>
              <a:t>Clinical-grade screening + a trained concierge team + real escalation to licensed providers, on your schedule, not office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6570"/>
                </a:solidFill>
                <a:latin typeface="Helvetica Neue"/>
              </a:rPr>
              <a:t>No feature matrix. No 'everyone top-right' quadrant.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Helvetica Neue"/>
              </a:rPr>
              <a:t>Working channels today. Capacity is the job this round funds.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93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01 ·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91109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Channels that fill panels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Existing channels + founder-led fill — ~$80 CAC estimate (current channel estimate, not yet a mature/audited figure).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352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02 · Already in 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91693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Fractional COO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Fractional COO since Sept 2026 — driving fundraising readiness and B2B pipeline, self-funded.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410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03 · This round's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92277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Clinical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Add clinical capacity to serve proven demand.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0060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46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04 · 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92861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A37"/>
                </a:solidFill>
                <a:latin typeface="Helvetica Neue"/>
              </a:rPr>
              <a:t>Vendor-delivered CAC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Professional-vendor-driven CAC expected within ~6 months of engaging a partner — no calendar promise.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A37"/>
                </a:solidFill>
                <a:latin typeface="Helvetica Neue"/>
              </a:rPr>
              <a:t>Demand is already here. Healthcare hasn't caught up to what working professionals actually need.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06070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Helvetica Neue"/>
              </a:rPr>
              <a:t>While carefully screening ADHD patients, we noticed something worth building on: a negative ADHD or PTSD screen doesn't mean nothing is there. Healthcare screens for cognitive and mental health reactively — a PHQ flag in Epic, dementia screening starting at 65. We think tracking these markers longitudinally, especially for working professionals under sustained pressure, is worth building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6570"/>
                </a:solidFill>
                <a:latin typeface="Helvetica Neue"/>
              </a:rPr>
              <a:t>Discipline: SOPs, QA, and multi-state compliance already in place — the bottleneck is capacity and founder bandwidth, not the care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04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Helvetica Neue"/>
              </a:rPr>
              <a:t>We're raising $500k to hold capacity and hand off acquisition.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75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Clinical capacity &amp; retention · ~$300k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0428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Two PA/NP hires (licensing, DEA, malpractice, benefits) + medical director multi-state supervision.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106070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0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7238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Leadership capacity · ~$100k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0156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Sustains the fractional COO retainer through the 18–24 month runway, already in motion since September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23360"/>
            <a:ext cx="106070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87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16966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Professional marketing partnership · ~$100k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49884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C6570"/>
                </a:solidFill>
                <a:latin typeface="Helvetica Neue"/>
              </a:rPr>
              <a:t>Healthcare-specific vendor once capacity is stable.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Helvetica Neue"/>
              </a:rPr>
              <a:t>Objective: Stabilize capacity against proven demand, free founder bandwidth, then replace founder-led acquisition with a professional partner.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8F71"/>
                </a:solidFill>
                <a:latin typeface="Helvetica Neue"/>
              </a:rPr>
              <a:t>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Helvetica Neue"/>
              </a:rPr>
              <a:t>Physicians who built the practice before asking for capital.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2120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-sneh-pandey-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888504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Dr. Sneh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Board-certified physician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10,000+ patient encounters at Siya Health across primary care, obesity, hospital medicine, and ADHD care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Built multi-state practice to 2,700+ patients, cash-flow positive, bootstrapped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120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-swati-pand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65960"/>
            <a:ext cx="888504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5528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Helvetica Neue"/>
              </a:rPr>
              <a:t>Dr. Swati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8F71"/>
                </a:solidFill>
                <a:latin typeface="Helvetica Neue"/>
              </a:rPr>
              <a:t>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Board-certified physician, licensed in Pennsylvania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C6570"/>
                </a:solidFill>
                <a:latin typeface="Helvetica Neue"/>
              </a:rPr>
              <a:t>·  Co-founder and clinical advisor — shapes clinical protocol standards across Siya Health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83480"/>
            <a:ext cx="64008" cy="123444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5029200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A37"/>
                </a:solidFill>
                <a:latin typeface="Georgia"/>
              </a:rPr>
              <a:t>I was strict about controlled substances in my own training, long before Siya existed. I'd read about companies getting sued for overprescribing, and I didn't want us to become another cautionary tale. So the pill counts, the random drug screens, the compliance formalities — none of that came from a regulation checklist. It came from not wanting my name attached to a company that cut corners on this.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61264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6570"/>
                </a:solidFill>
                <a:latin typeface="Helvetica Neue"/>
              </a:rPr>
              <a:t>— Dr. Sneh Pandey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Years spent learning how to deliver better care.
This round scales what already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F71"/>
                </a:solidFill>
                <a:latin typeface="Helvetica Neue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F2A37"/>
                </a:solidFill>
                <a:latin typeface="Helvetica Neue"/>
              </a:rPr>
              <a:t>$500,000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6570"/>
                </a:solidFill>
                <a:latin typeface="Helvetica Neue"/>
              </a:rPr>
              <a:t>Clinical capacity &amp; retention · Leadership capacity · Professional marketing partnership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80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2024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Helvetica Neue"/>
              </a:rPr>
              <a:t>Let's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Helvetica Neue"/>
              </a:rPr>
              <a:t>Dr. Sneh Pandey ·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8F71"/>
                </a:solidFill>
                <a:latin typeface="Helvetica Neue"/>
              </a:rPr>
              <a:t>chiefservant@siya.health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6570"/>
                </a:solidFill>
                <a:latin typeface="Helvetica Neue"/>
              </a:rPr>
              <a:t>siya.health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C6570"/>
                </a:solidFill>
                <a:latin typeface="Helvetica Neue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