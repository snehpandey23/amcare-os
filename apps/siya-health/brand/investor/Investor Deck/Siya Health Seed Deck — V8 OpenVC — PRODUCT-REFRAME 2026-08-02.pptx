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Company name big, descriptive tagline, no date (OpenVC rule).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Specific, undeniable problem for adults in longitudinal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= the operating model, built by doing.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 SLIDE — POSITIONING. Section 1 = today’s running care (Carepatron / Spruce / Creyos as tools, held by Siya protocols) — NOT a product claim. Section 2 = the only product visual: low-fi concept wireframe with required label “Concept — in design, informed by workflows already validated in our practice.” No Creyos report screenshot/hero. Full Creyos sample belongs in the data room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Action title with real growth claim (Feb $30k → Jul $92k). No vanity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Differentiator slide.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ARPU + model + why-this-model, per OpenVC. $149/$79/$149 canonical pricing.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Bottom-up per ADHD-MARKET-SIZING-2026.md. Never cite $19B/$122B societal-burden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 Competition — categories only. One explicit difference sentence per row. Language locks: practice/workflow/protocol — no OS/platform/SiyaOS.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 GTM — process not channels. TX conversions from Google Ads only (TX_SEARCH_CONVERSIONS=None). CAC by August 30, 2026 — do not invent.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Hook/why-now. No AI hype.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Round size + objective + use of proceeds (OpenVC funding-slide spec).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Names, roles, photos, specific achievements — OpenVC team-slide spec. Confirm bullet accuracy with founders.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stated plainly.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OpenVC rule: CEO's direct email — not care@/info@. Set CEO_EMAIL in the builder.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9144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600200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37"/>
                </a:solidFill>
                <a:latin typeface="Helvetica Neue"/>
              </a:rPr>
              <a:t>We started with patients.
Not software.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0233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6570"/>
                </a:solidFill>
                <a:latin typeface="Helvetica Neue"/>
              </a:rPr>
              <a:t>Physician-led ADHD + primary care telehealth · four states (CA · TX · PA · FL)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Patients weren’t failing to find care.
Care was failing to follow them.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C6570"/>
                </a:solidFill>
                <a:latin typeface="Helvetica Neue"/>
              </a:rPr>
              <a:t>Visit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0008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87752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87752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C6570"/>
                </a:solidFill>
                <a:latin typeface="Helvetica Neue"/>
              </a:rPr>
              <a:t>Plan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98264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Helvetica Neue"/>
              </a:rPr>
              <a:t>Pharmacy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71032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08776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Helvetica Neue"/>
              </a:rPr>
              <a:t>Follow-up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1544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19288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19288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F2A37"/>
                </a:solidFill>
                <a:latin typeface="Helvetica Neue"/>
              </a:rPr>
              <a:t>Refill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92056" y="3310128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3017520"/>
            <a:ext cx="160020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29800" y="3310128"/>
            <a:ext cx="1600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5C6570"/>
                </a:solidFill>
                <a:latin typeface="Helvetica Neue"/>
              </a:rPr>
              <a:t>Life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C6570"/>
                </a:solidFill>
                <a:latin typeface="Helvetica Neue"/>
              </a:rPr>
              <a:t>Everyone optimizes the first visit.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1206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Care actually breaks down at Pharmacy · Follow-up · Refill.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So we built the missing pieces ourselves.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Physicians  →  Operators  →  Systems builders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69748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834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Multi-state licensure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283464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CA · TX · PA · FL — providers credentialed and compliant in every state we serve.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74904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862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Offshore clinical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57800" y="388620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Hired, trained, and QA’d from scratch — scheduling, pharmacy coordination, patient follow-up.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800600"/>
            <a:ext cx="1060704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Standardized provider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4937760"/>
            <a:ext cx="5852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Protocols and SOPs shared across all providers and states — care doesn’t depend on memory.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10515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2A37"/>
                </a:solidFill>
                <a:latin typeface="Helvetica Neue"/>
              </a:rPr>
              <a:t>We deliver care today. We’re encoding the workflow next.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36192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What we deliver today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106070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1938528"/>
            <a:ext cx="3200400" cy="658368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19933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Helvetica Neue"/>
              </a:rPr>
              <a:t>Carepatron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2677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6570"/>
                </a:solidFill>
                <a:latin typeface="Helvetica Neue"/>
              </a:rPr>
              <a:t>Records · booking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938528"/>
            <a:ext cx="3200400" cy="658368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9933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Helvetica Neue"/>
              </a:rPr>
              <a:t>Spruce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677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6570"/>
                </a:solidFill>
                <a:latin typeface="Helvetica Neue"/>
              </a:rPr>
              <a:t>Messaging · calls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938528"/>
            <a:ext cx="3200400" cy="658368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99339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F2A37"/>
                </a:solidFill>
                <a:latin typeface="Helvetica Neue"/>
              </a:rPr>
              <a:t>Creyos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267712"/>
            <a:ext cx="2926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C6570"/>
                </a:solidFill>
                <a:latin typeface="Helvetica Neue"/>
              </a:rPr>
              <a:t>Cognitive assessment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697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2A37"/>
                </a:solidFill>
                <a:latin typeface="Helvetica Neue"/>
              </a:rPr>
              <a:t>End-to-end ADHD care — coordinated across these tools today, held together by our own protocols and clinical judgment. This is the running process, not a product claim.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33756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Cognitive assessment (Creyos) is one input into this process — not the product.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6576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What we’re building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3931920"/>
            <a:ext cx="10607040" cy="36576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4005072"/>
            <a:ext cx="10149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Concept — in design, informed by workflows already validated in our practice.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407408"/>
            <a:ext cx="33832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407408"/>
            <a:ext cx="3383280" cy="27432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4443984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Care Timeline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548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Visit · 06/12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99262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Plan shared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23036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Pharmacy note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546811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Follow-up due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70585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Refill request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50474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4407408"/>
            <a:ext cx="33832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4407408"/>
            <a:ext cx="3383280" cy="27432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4443984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Provider Workspace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0" y="47548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Patient context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99262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Protocol checklist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523036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Decision notes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546811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Next action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570585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Handoff ready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5047488"/>
            <a:ext cx="320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01000" y="4407408"/>
            <a:ext cx="3383280" cy="16276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001000" y="4407408"/>
            <a:ext cx="3383280" cy="27432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10728" y="4443984"/>
            <a:ext cx="3154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Helvetica Neue"/>
              </a:rPr>
              <a:t>Refill / Follow-up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83880" y="4754880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Queue · 12 open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83880" y="4992624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Needs 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83880" y="5230368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Pharmacy hold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83880" y="5468112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Due this week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83880" y="5705856"/>
            <a:ext cx="3063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·  Closed · 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6172200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Care Timeline → Provider Workspace → Refill / Follow-up queue. Software encodes the practice.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Traction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Helvetica Neue"/>
              </a:rPr>
              <a:t>Revenue nearly 3× since February.
Cash-flow positive.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606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2,000+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29992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Patients treated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246888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05072" y="2606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1,000+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05072" y="299923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ADHD evaluations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52044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3657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150+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" y="40507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Recurring members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352044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05072" y="365760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600+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05072" y="405079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Reviews · 4.8★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57200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47091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4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1832" y="51023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CA · TX · PA · FL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4572000"/>
            <a:ext cx="288036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05072" y="470916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2A37"/>
                </a:solidFill>
                <a:latin typeface="Helvetica Neue"/>
              </a:rPr>
              <a:t>Cash-flow+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05072" y="51023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C6570"/>
                </a:solidFill>
                <a:latin typeface="Helvetica Neue"/>
              </a:rPr>
              <a:t>Operations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6002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Monthly gross revenue — 2026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1965960"/>
            <a:ext cx="4023360" cy="3337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30407" y="3458818"/>
            <a:ext cx="336237" cy="102174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3247" y="3184498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3247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Jan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9858" y="3518453"/>
            <a:ext cx="336237" cy="962107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2698" y="3244133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30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2698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Feb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49310" y="3240157"/>
            <a:ext cx="336237" cy="1240403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12150" y="2965837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44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12150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Mar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58761" y="3186486"/>
            <a:ext cx="336237" cy="129407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21601" y="2912166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47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21601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Apr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68212" y="2981740"/>
            <a:ext cx="336237" cy="149882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531052" y="270742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57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31052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May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77664" y="2610016"/>
            <a:ext cx="336237" cy="1870544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040504" y="2335696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76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40504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Jun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687115" y="2286000"/>
            <a:ext cx="336237" cy="2194560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49955" y="2011680"/>
            <a:ext cx="610557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1F2A37"/>
                </a:solidFill>
                <a:latin typeface="Helvetica Neue"/>
              </a:rPr>
              <a:t>92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49955" y="4572000"/>
            <a:ext cx="61055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C6570"/>
                </a:solidFill>
                <a:latin typeface="Helvetica Neue"/>
              </a:rPr>
              <a:t>Jul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0" y="53492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C6570"/>
                </a:solidFill>
                <a:latin typeface="Helvetica Neue"/>
              </a:rPr>
              <a:t>$ thousands / month · gross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77240" y="54864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$378k+ gross 2026 YTD (Jan–Jul) · founder-confirmed books.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Where we are, honestly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Our growth engine today is founder-led —
and it works.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Proof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Founder-led relationships and networking — on top of a full clinical load — fill all providers’ panels, not just the founder’s own.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That is a key-person dependency. We say so plainly.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2743200"/>
            <a:ext cx="3429000" cy="246888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297180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Fix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429000"/>
            <a:ext cx="2880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F2A37"/>
                </a:solidFill>
                <a:latin typeface="Helvetica Neue"/>
              </a:rPr>
              <a:t>This round funds clinical capacity and redundancy, so proven acquisition runs without routing every relationship through one person.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4864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Proof + risk + fix — not a disclosure buried in an appendix.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Cash-pay, recurring, no insurance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945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423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B8F71"/>
                </a:solidFill>
                <a:latin typeface="Helvetica Neue"/>
              </a:rPr>
              <a:t>$149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017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Initial evaluation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429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Helvetica Neue"/>
              </a:rPr>
              <a:t>One-time, self-pay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423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B8F71"/>
                </a:solidFill>
                <a:latin typeface="Helvetica Neue"/>
              </a:rPr>
              <a:t>$79 /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3017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Ongoing care — non-controlled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429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Helvetica Neue"/>
              </a:rPr>
              <a:t>Recurring membership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2194560"/>
            <a:ext cx="34290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2423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6B8F71"/>
                </a:solidFill>
                <a:latin typeface="Helvetica Neue"/>
              </a:rPr>
              <a:t>$149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01752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Ongoing care — controlled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429000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C6570"/>
                </a:solidFill>
                <a:latin typeface="Helvetica Neue"/>
              </a:rPr>
              <a:t>Recurring membership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29768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Helvetica Neue"/>
              </a:rPr>
              <a:t>Subscription-style continuity: 150+ recurring members and growing.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Helvetica Neue"/>
              </a:rPr>
              <a:t>Roughly $600 per patient-year in professional fees (bottom-up, competitor-benchmarked).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F2A37"/>
                </a:solidFill>
                <a:latin typeface="Helvetica Neue"/>
              </a:rPr>
              <a:t>Cash-pay means no payer contracts, no reimbursement risk, and revenue from day 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Market — bottom-up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15.5M diagnosed adults. $2.9B serviceable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570"/>
                </a:solidFill>
                <a:latin typeface="Helvetica Neue"/>
              </a:rPr>
              <a:t>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210312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570"/>
                </a:solidFill>
                <a:latin typeface="Helvetica Neue"/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72600" y="21031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C6570"/>
                </a:solidFill>
                <a:latin typeface="Helvetica Neue"/>
              </a:rPr>
              <a:t>Size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1460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6974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71576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U.S. adult ADHD clinical services (professional fees)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72600" y="267919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8F71"/>
                </a:solidFill>
                <a:latin typeface="Helvetica Neue"/>
              </a:rPr>
              <a:t>~$10B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38328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66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SAM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58444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Adult ADHD virtual care (telehealth-willing, cash-pay comps)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35478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8F71"/>
                </a:solidFill>
                <a:latin typeface="Helvetica Neue"/>
              </a:rPr>
              <a:t>~$2.9B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251960"/>
            <a:ext cx="10607040" cy="731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4348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F2A37"/>
                </a:solidFill>
                <a:latin typeface="Helvetica Neue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445312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Year-3, capacity-derived (~40 clinician FTEs)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441655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6B8F71"/>
                </a:solidFill>
                <a:latin typeface="Helvetica Neue"/>
              </a:rPr>
              <a:t>~$16M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4924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570"/>
                </a:solidFill>
                <a:latin typeface="Helvetica Neue"/>
              </a:rPr>
              <a:t>Built bottom-up: 15.5M diagnosed U.S. adults (CDC) · ~half already use telehealth for ADHD · ~$600/patient-year professional fees.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5C6570"/>
                </a:solidFill>
                <a:latin typeface="Helvetica Neue"/>
              </a:rPr>
              <a:t>No inflated blended TAM. Full sizing workbook available in diligence.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Competition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Helvetica Neue"/>
              </a:rPr>
              <a:t>Different job. Not a feature checklist.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00253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Episodic telehealth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26279" y="2002536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Optimizes first-visit volume, not continuity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587752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0720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Generic EHR tools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807208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Records history, doesn't guide next action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392424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6118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Point cognitive tools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611880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One-time score, not ongoing care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197096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416552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Traditional psychiatry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79" y="4416552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Access-limited, waitlist-bound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001768"/>
            <a:ext cx="10607040" cy="713232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221224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Siya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79" y="5221224"/>
            <a:ext cx="6492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1F2A37"/>
                </a:solidFill>
                <a:latin typeface="Helvetica Neue"/>
              </a:rPr>
              <a:t>Continuity, evaluation through refill — 2,000+ patients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97880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C6570"/>
                </a:solidFill>
                <a:latin typeface="Helvetica Neue"/>
              </a:rPr>
              <a:t>No feature matrix. No “everyone top-right” quadrant. The difference is the job we 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Helvetica Neue"/>
              </a:rPr>
              <a:t>A process — not a channel wishlist.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DCE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9933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01 · 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97510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Primary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26771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Founder-led relationships and networking fill all providers’ panels — not just the founder’s.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78892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9535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02 · Live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9352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Texas 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03030"/>
                </a:solidFill>
                <a:latin typeface="Helvetica Neue"/>
              </a:rPr>
              <a:t>Paid Search test live in Texas — [confirm conversion count from Google Ads before upload]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74904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913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03 · Transition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38953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This round’s job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418795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Add clinical capacity, then move from founder-led fill to systematic acquisition — reproduce Search TX → CA.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709160"/>
            <a:ext cx="1060704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48737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6B8F71"/>
                </a:solidFill>
                <a:latin typeface="Helvetica Neue"/>
              </a:rPr>
              <a:t>04 · Measurement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37560" y="48554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F2A37"/>
                </a:solidFill>
                <a:latin typeface="Helvetica Neue"/>
              </a:rPr>
              <a:t>No guessing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514807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Full CAC and payback period confirmed by August 30, 2026.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The playbook is proven.
The environment rewards how we practice.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432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Texas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27432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Search conversions proven — a repeatable acquisition playbook exists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74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California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347472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Revenue growing — next market for the same playbook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Regulation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42062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Environment rewards protocolized, auditable care over low-touch mills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93776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6B8F71"/>
                </a:solidFill>
                <a:latin typeface="Helvetica Neue"/>
              </a:rPr>
              <a:t>Discipline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93776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F2A37"/>
                </a:solidFill>
                <a:latin typeface="Helvetica Neue"/>
              </a:rPr>
              <a:t>SOPs, QA, and multi-state compliance already in place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Use of funds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We’re raising $500k to scale a working practice.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3317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229514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Clinical capacity &amp; redundancy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83080" y="267919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More providers and coverage — directly reduces founder key-person risk.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24612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290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83080" y="33924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Scale proven acquisition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377647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Texas Search converts today. Reproduce the same playbook in California.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343400"/>
            <a:ext cx="106070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5262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6B8F71"/>
                </a:solidFill>
                <a:latin typeface="Helvetica Neue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83080" y="448970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1F2A37"/>
                </a:solidFill>
                <a:latin typeface="Helvetica Neue"/>
              </a:rPr>
              <a:t>Working capital buffer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83080" y="4873752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C6570"/>
                </a:solidFill>
                <a:latin typeface="Helvetica Neue"/>
              </a:rPr>
              <a:t>Operate from strength, not desperation.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A37"/>
                </a:solidFill>
                <a:latin typeface="Helvetica Neue"/>
              </a:rPr>
              <a:t>Objective: 18–24 months of runway to prove the playbook in a second state and remove key-person dependency.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Founders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188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2A37"/>
                </a:solidFill>
                <a:latin typeface="Helvetica Neue"/>
              </a:rPr>
              <a:t>Physicians who built the practice before asking for capital.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03120"/>
            <a:ext cx="52120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r-sneh-pandey-fou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423160"/>
            <a:ext cx="1066205" cy="1371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69748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Helvetica Neue"/>
              </a:rPr>
              <a:t>Dr. Sneh Pandey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Founder ·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77639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Board-certified physician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Tens of thousands of patient encounters — primary care, obesity, hospital medicine, ICU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Built multi-state practice to 2,000+ patients, cash-flow positive, bootstrapped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212080" cy="3566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r-swati-pande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2423160"/>
            <a:ext cx="1066205" cy="1371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138160" y="2514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Helvetica Neue"/>
              </a:rPr>
              <a:t>Dr. Swati Pandey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29260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B8F71"/>
                </a:solidFill>
                <a:latin typeface="Helvetica Neue"/>
              </a:rPr>
              <a:t>Co-founder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3977639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Board-certified physician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Co-built clinical protocols and provider workflows across four states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5C6570"/>
                </a:solidFill>
                <a:latin typeface="Helvetica Neue"/>
              </a:rPr>
              <a:t>·  Leads clinical quality and patient-experience standards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2926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658368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64592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F2A37"/>
                </a:solidFill>
                <a:latin typeface="Helvetica Neue"/>
              </a:rPr>
              <a:t>Years spent learning how to deliver better care.
This round scales what already works.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6B8F71"/>
                </a:solidFill>
                <a:latin typeface="Helvetica Neue"/>
              </a:rPr>
              <a:t>Seed 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06908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F2A37"/>
                </a:solidFill>
                <a:latin typeface="Helvetica Neue"/>
              </a:rPr>
              <a:t>$500,000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120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5C6570"/>
                </a:solidFill>
                <a:latin typeface="Helvetica Neue"/>
              </a:rPr>
              <a:t>Clinical capacity &amp; redundancy · Proven acquisition, next state · Working capital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2801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2A37"/>
                </a:solidFill>
                <a:latin typeface="Helvetica Neue"/>
              </a:rPr>
              <a:t>Siya Health®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965960"/>
            <a:ext cx="1280160" cy="73152"/>
          </a:xfrm>
          <a:prstGeom prst="rect">
            <a:avLst/>
          </a:prstGeom>
          <a:solidFill>
            <a:srgbClr val="6B8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23774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1F2A37"/>
                </a:solidFill>
                <a:latin typeface="Helvetica Neue"/>
              </a:rPr>
              <a:t>Let’s talk.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A37"/>
                </a:solidFill>
                <a:latin typeface="Helvetica Neue"/>
              </a:rPr>
              <a:t>Dr. Sneh Pandey · Founder &amp; CEO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8F71"/>
                </a:solidFill>
                <a:latin typeface="Helvetica Neue"/>
              </a:rPr>
              <a:t>chiefservant@siya.health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7548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C6570"/>
                </a:solidFill>
                <a:latin typeface="Helvetica Neue"/>
              </a:rPr>
              <a:t>siya.health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922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C6570"/>
                </a:solidFill>
                <a:latin typeface="Helvetica Neue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