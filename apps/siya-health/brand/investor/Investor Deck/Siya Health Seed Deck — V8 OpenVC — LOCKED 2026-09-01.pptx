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Friend-origin title (consented). Story only on slide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Problem frame — three phases. Detail on slides 3–5.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Pre-visit failure mode + concierge fix.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At-the-visit failure mode + concierge fix.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Post-visit + people-first → technology-later close.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Traction locked 2026-09-01. Retention placeholder intentional.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Honest risk + fractional COO already in motion.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Cash-pay model + MSO structure note.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Market sizing locked 2026-09-01. ADHD + insomnia bottom-up.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Competition categories — clinical depth + concierge, not feature matrix.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GTM: capacity this round; COO already in motion; no dated Ads CAC.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now — longitudinal screening insight + capacity bottleneck.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of funds $300k / $100k / $100k — footer language must match slide 15.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Founders + compliance pull-quote under Sneh. Friend story stays on slide 1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footer must match Use of Funds category labels exactly.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OpenVC: CEO direct email.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14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2A37"/>
                </a:solidFill>
                <a:latin typeface="Helvetica Neue"/>
              </a:rPr>
              <a:t>Siya Health®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08760"/>
            <a:ext cx="1280160" cy="73152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F2A37"/>
                </a:solidFill>
                <a:latin typeface="Helvetica Neue"/>
              </a:rPr>
              <a:t>In medical school, I watched a brilliant, clever friend struggle for years — distracted, restless, unable to finish what he started — before he was finally diagnosed with ADHD. He's now a successful interventional cardiologist. That gap, between clever-but-struggling and diagnosed-and-thriving, is what we built Siya to close.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2976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C6570"/>
                </a:solidFill>
                <a:latin typeface="Helvetica Neue"/>
              </a:rPr>
              <a:t>Physician-led telehealth · care that follows through, before and after the visit · multi-state 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92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C6570"/>
                </a:solidFill>
                <a:latin typeface="Helvetica Neue"/>
              </a:rPr>
              <a:t>1 /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926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2A37"/>
                </a:solidFill>
                <a:latin typeface="Helvetica Neue"/>
              </a:rPr>
              <a:t>Siya Health®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658368"/>
            <a:ext cx="1280160" cy="73152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B8F71"/>
                </a:solidFill>
                <a:latin typeface="Helvetica Neue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6070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2A37"/>
                </a:solidFill>
                <a:latin typeface="Helvetica Neue"/>
              </a:rPr>
              <a:t>The doctor makes the right care plan.
The patient doesn't always get to live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69748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5C6570"/>
                </a:solidFill>
                <a:latin typeface="Helvetica Neue"/>
              </a:rPr>
              <a:t>Care breaks down across three phases — before the visit, during it, and after. Not because of missing technology. Because of missing follow-through.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4023360"/>
            <a:ext cx="33832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44805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F2A37"/>
                </a:solidFill>
                <a:latin typeface="Helvetica Neue"/>
              </a:rPr>
              <a:t>Pre-visit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4023360"/>
            <a:ext cx="3383280" cy="1371600"/>
          </a:xfrm>
          <a:prstGeom prst="roundRect">
            <a:avLst>
              <a:gd name="adj" fmla="val 8000"/>
            </a:avLst>
          </a:prstGeom>
          <a:solidFill>
            <a:srgbClr val="DCE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44805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F2A37"/>
                </a:solidFill>
                <a:latin typeface="Helvetica Neue"/>
              </a:rPr>
              <a:t>At the visit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4023360"/>
            <a:ext cx="33832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1000" y="44805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F2A37"/>
                </a:solidFill>
                <a:latin typeface="Helvetica Neue"/>
              </a:rPr>
              <a:t>Post-visit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92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C6570"/>
                </a:solidFill>
                <a:latin typeface="Helvetica Neue"/>
              </a:rPr>
              <a:t>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926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2A37"/>
                </a:solidFill>
                <a:latin typeface="Helvetica Neue"/>
              </a:rPr>
              <a:t>Siya Health®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658368"/>
            <a:ext cx="1280160" cy="73152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B8F71"/>
                </a:solidFill>
                <a:latin typeface="Helvetica Neue"/>
              </a:rPr>
              <a:t>Pre-visit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8872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A37"/>
                </a:solidFill>
                <a:latin typeface="Helvetica Neue"/>
              </a:rPr>
              <a:t>Before the visit, the wrong patients get through — and the right ones don't show up.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286000"/>
            <a:ext cx="1060704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450592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F2A37"/>
                </a:solidFill>
                <a:latin typeface="Helvetica Neue"/>
              </a:rPr>
              <a:t>·  Poor eligibility review → mismatched expectations, refunds, chargebacks, bad reviews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063240"/>
            <a:ext cx="1060704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227832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F2A37"/>
                </a:solidFill>
                <a:latin typeface="Helvetica Neue"/>
              </a:rPr>
              <a:t>·  No personalized reminders → no-shows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069080"/>
            <a:ext cx="10607040" cy="1691640"/>
          </a:xfrm>
          <a:prstGeom prst="roundRect">
            <a:avLst>
              <a:gd name="adj" fmla="val 8000"/>
            </a:avLst>
          </a:prstGeom>
          <a:solidFill>
            <a:srgbClr val="DCE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2062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B8F71"/>
                </a:solidFill>
                <a:latin typeface="Helvetica Neue"/>
              </a:rPr>
              <a:t>Fix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572000"/>
            <a:ext cx="100584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2A37"/>
                </a:solidFill>
                <a:latin typeface="Helvetica Neue"/>
              </a:rPr>
              <a:t>Our concierge team reviews eligibility before booking and calls patients personally to confirm.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92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C6570"/>
                </a:solidFill>
                <a:latin typeface="Helvetica Neue"/>
              </a:rPr>
              <a:t>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926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2A37"/>
                </a:solidFill>
                <a:latin typeface="Helvetica Neue"/>
              </a:rPr>
              <a:t>Siya Health®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658368"/>
            <a:ext cx="1280160" cy="73152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B8F71"/>
                </a:solidFill>
                <a:latin typeface="Helvetica Neue"/>
              </a:rPr>
              <a:t>At the visit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8872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A37"/>
                </a:solidFill>
                <a:latin typeface="Helvetica Neue"/>
              </a:rPr>
              <a:t>During the visit, the doctor is doing admin work instead of practicing medicine.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286000"/>
            <a:ext cx="1060704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450592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F2A37"/>
                </a:solidFill>
                <a:latin typeface="Helvetica Neue"/>
              </a:rPr>
              <a:t>·  Incomplete intake → doctor manually gathers history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063240"/>
            <a:ext cx="1060704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227832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F2A37"/>
                </a:solidFill>
                <a:latin typeface="Helvetica Neue"/>
              </a:rPr>
              <a:t>·  No documentation/order support → less patient-facing time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069080"/>
            <a:ext cx="10607040" cy="1691640"/>
          </a:xfrm>
          <a:prstGeom prst="roundRect">
            <a:avLst>
              <a:gd name="adj" fmla="val 8000"/>
            </a:avLst>
          </a:prstGeom>
          <a:solidFill>
            <a:srgbClr val="DCE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2062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B8F71"/>
                </a:solidFill>
                <a:latin typeface="Helvetica Neue"/>
              </a:rPr>
              <a:t>Fix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572000"/>
            <a:ext cx="100584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2A37"/>
                </a:solidFill>
                <a:latin typeface="Helvetica Neue"/>
              </a:rPr>
              <a:t>Our concierge team pre-builds the intake summary and scribes live, so the doctor's time is spent only on the patient.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92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C6570"/>
                </a:solidFill>
                <a:latin typeface="Helvetica Neue"/>
              </a:rPr>
              <a:t>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926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2A37"/>
                </a:solidFill>
                <a:latin typeface="Helvetica Neue"/>
              </a:rPr>
              <a:t>Siya Health®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658368"/>
            <a:ext cx="1280160" cy="73152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B8F71"/>
                </a:solidFill>
                <a:latin typeface="Helvetica Neue"/>
              </a:rPr>
              <a:t>Post-visit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70432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A37"/>
                </a:solidFill>
                <a:latin typeface="Helvetica Neue"/>
              </a:rPr>
              <a:t>After the visit, care quietly falls apart.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1060704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975104"/>
            <a:ext cx="9966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F2A37"/>
                </a:solidFill>
                <a:latin typeface="Helvetica Neue"/>
              </a:rPr>
              <a:t>·  Pharmacy coordination failures → prescriptions don't reach the patient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542032"/>
            <a:ext cx="1060704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688336"/>
            <a:ext cx="9966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F2A37"/>
                </a:solidFill>
                <a:latin typeface="Helvetica Neue"/>
              </a:rPr>
              <a:t>·  No structured follow-up → low compliance, interrupted care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383280"/>
            <a:ext cx="10607040" cy="1325880"/>
          </a:xfrm>
          <a:prstGeom prst="roundRect">
            <a:avLst>
              <a:gd name="adj" fmla="val 8000"/>
            </a:avLst>
          </a:prstGeom>
          <a:solidFill>
            <a:srgbClr val="DCE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49300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B8F71"/>
                </a:solidFill>
                <a:latin typeface="Helvetica Neue"/>
              </a:rPr>
              <a:t>Fix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840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2A37"/>
                </a:solidFill>
                <a:latin typeface="Helvetica Neue"/>
              </a:rPr>
              <a:t>Our concierge team owns pharmacy coordination and structured follow-up — checking in, explaining what to expect, catching problems before they interrupt care.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937760"/>
            <a:ext cx="10607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C6570"/>
                </a:solidFill>
                <a:latin typeface="Helvetica Neue"/>
              </a:rPr>
              <a:t>Today, we've solved this with trained people operating disciplined protocols on top of existing tools. As those protocols mature, they become the blueprint for technology we build ourselves — proven first, encoded second.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92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C6570"/>
                </a:solidFill>
                <a:latin typeface="Helvetica Neue"/>
              </a:rPr>
              <a:t>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926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2A37"/>
                </a:solidFill>
                <a:latin typeface="Helvetica Neue"/>
              </a:rPr>
              <a:t>Siya Health®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658368"/>
            <a:ext cx="1280160" cy="73152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B8F71"/>
                </a:solidFill>
                <a:latin typeface="Helvetica Neue"/>
              </a:rPr>
              <a:t>Traction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43000"/>
            <a:ext cx="6400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A37"/>
                </a:solidFill>
                <a:latin typeface="Helvetica Neue"/>
              </a:rPr>
              <a:t>Revenue growing steadily since February.
Cash-flow positive.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194560"/>
            <a:ext cx="28803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233172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A37"/>
                </a:solidFill>
                <a:latin typeface="Helvetica Neue"/>
              </a:rPr>
              <a:t>2,700+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724912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C6570"/>
                </a:solidFill>
                <a:latin typeface="Helvetica Neue"/>
              </a:rPr>
              <a:t>Patients treated (growing)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0" y="2194560"/>
            <a:ext cx="28803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05072" y="233172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A37"/>
                </a:solidFill>
                <a:latin typeface="Helvetica Neue"/>
              </a:rPr>
              <a:t>1,200+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05072" y="2724912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C6570"/>
                </a:solidFill>
                <a:latin typeface="Helvetica Neue"/>
              </a:rPr>
              <a:t>Neurocognitive evaluations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154680"/>
            <a:ext cx="28803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329184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A37"/>
                </a:solidFill>
                <a:latin typeface="Helvetica Neue"/>
              </a:rPr>
              <a:t>4 states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3685032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C6570"/>
                </a:solidFill>
                <a:latin typeface="Helvetica Neue"/>
              </a:rPr>
              <a:t>Multi-state operations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0" y="3154680"/>
            <a:ext cx="28803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05072" y="329184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A37"/>
                </a:solidFill>
                <a:latin typeface="Helvetica Neue"/>
              </a:rPr>
              <a:t>Cash-flow+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05072" y="3685032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C6570"/>
                </a:solidFill>
                <a:latin typeface="Helvetica Neue"/>
              </a:rPr>
              <a:t>Operations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132588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2A37"/>
                </a:solidFill>
                <a:latin typeface="Helvetica Neue"/>
              </a:rPr>
              <a:t>Monthly gross revenue — 2026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0" y="1691640"/>
            <a:ext cx="4023360" cy="2926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630407" y="2952750"/>
            <a:ext cx="336237" cy="933450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3247" y="2696718"/>
            <a:ext cx="61055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F2A37"/>
                </a:solidFill>
                <a:latin typeface="Helvetica Neue"/>
              </a:rPr>
              <a:t>23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3247" y="3977640"/>
            <a:ext cx="61055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C6570"/>
                </a:solidFill>
                <a:latin typeface="Helvetica Neue"/>
              </a:rPr>
              <a:t>Jan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39858" y="3006091"/>
            <a:ext cx="336237" cy="880109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2698" y="2750059"/>
            <a:ext cx="61055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F2A37"/>
                </a:solidFill>
                <a:latin typeface="Helvetica Neue"/>
              </a:rPr>
              <a:t>21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02698" y="3977640"/>
            <a:ext cx="61055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C6570"/>
                </a:solidFill>
                <a:latin typeface="Helvetica Neue"/>
              </a:rPr>
              <a:t>Feb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49310" y="2766060"/>
            <a:ext cx="336237" cy="1120140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12150" y="2510028"/>
            <a:ext cx="61055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F2A37"/>
                </a:solidFill>
                <a:latin typeface="Helvetica Neue"/>
              </a:rPr>
              <a:t>30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12150" y="3977640"/>
            <a:ext cx="61055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C6570"/>
                </a:solidFill>
                <a:latin typeface="Helvetica Neue"/>
              </a:rPr>
              <a:t>Mar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58761" y="2846070"/>
            <a:ext cx="336237" cy="1040130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21601" y="2590038"/>
            <a:ext cx="61055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F2A37"/>
                </a:solidFill>
                <a:latin typeface="Helvetica Neue"/>
              </a:rPr>
              <a:t>27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21601" y="3977640"/>
            <a:ext cx="61055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C6570"/>
                </a:solidFill>
                <a:latin typeface="Helvetica Neue"/>
              </a:rPr>
              <a:t>Apr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668212" y="2632710"/>
            <a:ext cx="336237" cy="1253490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31052" y="2376678"/>
            <a:ext cx="61055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F2A37"/>
                </a:solidFill>
                <a:latin typeface="Helvetica Neue"/>
              </a:rPr>
              <a:t>35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31052" y="3977640"/>
            <a:ext cx="61055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C6570"/>
                </a:solidFill>
                <a:latin typeface="Helvetica Neue"/>
              </a:rPr>
              <a:t>May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177664" y="2205990"/>
            <a:ext cx="336237" cy="1680210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40504" y="1949958"/>
            <a:ext cx="61055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F2A37"/>
                </a:solidFill>
                <a:latin typeface="Helvetica Neue"/>
              </a:rPr>
              <a:t>51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40504" y="3977640"/>
            <a:ext cx="61055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C6570"/>
                </a:solidFill>
                <a:latin typeface="Helvetica Neue"/>
              </a:rPr>
              <a:t>Jun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687115" y="1965960"/>
            <a:ext cx="336237" cy="1920240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49955" y="1709928"/>
            <a:ext cx="61055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F2A37"/>
                </a:solidFill>
                <a:latin typeface="Helvetica Neue"/>
              </a:rPr>
              <a:t>60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49955" y="3977640"/>
            <a:ext cx="61055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C6570"/>
                </a:solidFill>
                <a:latin typeface="Helvetica Neue"/>
              </a:rPr>
              <a:t>Jul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" y="425196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2A37"/>
                </a:solidFill>
                <a:latin typeface="Helvetica Neue"/>
              </a:rPr>
              <a:t>Reviews: 4.9★ on Google (100+ reviews) · 4.75★ average across 600+ third-party provider reviews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" y="466344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C6570"/>
                </a:solidFill>
                <a:latin typeface="Helvetica Neue"/>
              </a:rPr>
              <a:t>No-shows: Declining trend Q4 2025–Q1/Q2 2026 as trained MAs and automated reminders took effect — now plateaued, pointing to factors beyond reminders we're actively addressing next.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5394960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C6570"/>
                </a:solidFill>
                <a:latin typeface="Helvetica Neue"/>
              </a:rPr>
              <a:t>[Retention: 3-month cohort data pending final team calculation — leave placeholder, do not fabricate]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6492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C6570"/>
                </a:solidFill>
                <a:latin typeface="Helvetica Neue"/>
              </a:rPr>
              <a:t>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926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2A37"/>
                </a:solidFill>
                <a:latin typeface="Helvetica Neue"/>
              </a:rPr>
              <a:t>Siya Health®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658368"/>
            <a:ext cx="1280160" cy="73152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B8F71"/>
                </a:solidFill>
                <a:latin typeface="Helvetica Neue"/>
              </a:rPr>
              <a:t>Where we are, honestly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88720"/>
            <a:ext cx="10607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2A37"/>
                </a:solidFill>
                <a:latin typeface="Helvetica Neue"/>
              </a:rPr>
              <a:t>We saw the risk before you did —
and we're already fixing 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606040"/>
            <a:ext cx="3429000" cy="2926080"/>
          </a:xfrm>
          <a:prstGeom prst="roundRect">
            <a:avLst>
              <a:gd name="adj" fmla="val 8000"/>
            </a:avLst>
          </a:prstGeom>
          <a:solidFill>
            <a:srgbClr val="DCE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83464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6B8F71"/>
                </a:solidFill>
                <a:latin typeface="Helvetica Neue"/>
              </a:rPr>
              <a:t>Proof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337560"/>
            <a:ext cx="28803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2A37"/>
                </a:solidFill>
                <a:latin typeface="Helvetica Neue"/>
              </a:rPr>
              <a:t>Founder-led relationships filled every provider's panel, not just the founder's own. It worked — 2,700+ patients prove 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606040"/>
            <a:ext cx="3429000" cy="2926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83464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6B8F71"/>
                </a:solidFill>
                <a:latin typeface="Helvetica Neue"/>
              </a:rPr>
              <a:t>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3337560"/>
            <a:ext cx="28803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2A37"/>
                </a:solidFill>
                <a:latin typeface="Helvetica Neue"/>
              </a:rPr>
              <a:t>One person's time doesn't scale. We knew that going 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2606040"/>
            <a:ext cx="3429000" cy="2926080"/>
          </a:xfrm>
          <a:prstGeom prst="roundRect">
            <a:avLst>
              <a:gd name="adj" fmla="val 8000"/>
            </a:avLst>
          </a:prstGeom>
          <a:solidFill>
            <a:srgbClr val="DCE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283464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6B8F71"/>
                </a:solidFill>
                <a:latin typeface="Helvetica Neue"/>
              </a:rPr>
              <a:t>Fix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3337560"/>
            <a:ext cx="28803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2A37"/>
                </a:solidFill>
                <a:latin typeface="Helvetica Neue"/>
              </a:rPr>
              <a:t>September 2026 — a fractional COO joined, already driving fundraising readiness and employer/B2B pipeline. This round adds the clinical capacity to match.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92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C6570"/>
                </a:solidFill>
                <a:latin typeface="Helvetica Neue"/>
              </a:rPr>
              <a:t>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926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2A37"/>
                </a:solidFill>
                <a:latin typeface="Helvetica Neue"/>
              </a:rPr>
              <a:t>Siya Health®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658368"/>
            <a:ext cx="1280160" cy="73152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B8F71"/>
                </a:solidFill>
                <a:latin typeface="Helvetica Neue"/>
              </a:rPr>
              <a:t>Business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88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2A37"/>
                </a:solidFill>
                <a:latin typeface="Helvetica Neue"/>
              </a:rPr>
              <a:t>Cash-pay, recurring, no insurance risk.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920240"/>
            <a:ext cx="342900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103120"/>
            <a:ext cx="2880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6B8F71"/>
                </a:solidFill>
                <a:latin typeface="Helvetica Neue"/>
              </a:rPr>
              <a:t>$149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651760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2A37"/>
                </a:solidFill>
                <a:latin typeface="Helvetica Neue"/>
              </a:rPr>
              <a:t>Initial evaluation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017520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C6570"/>
                </a:solidFill>
                <a:latin typeface="Helvetica Neue"/>
              </a:rPr>
              <a:t>One-time, self-pay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920240"/>
            <a:ext cx="342900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103120"/>
            <a:ext cx="2880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6B8F71"/>
                </a:solidFill>
                <a:latin typeface="Helvetica Neue"/>
              </a:rPr>
              <a:t>$79 / 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651760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2A37"/>
                </a:solidFill>
                <a:latin typeface="Helvetica Neue"/>
              </a:rPr>
              <a:t>Ongoing care — non-controlled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017520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C6570"/>
                </a:solidFill>
                <a:latin typeface="Helvetica Neue"/>
              </a:rPr>
              <a:t>Recurring membership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920240"/>
            <a:ext cx="342900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2103120"/>
            <a:ext cx="2880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6B8F71"/>
                </a:solidFill>
                <a:latin typeface="Helvetica Neue"/>
              </a:rPr>
              <a:t>$149 / 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651760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2A37"/>
                </a:solidFill>
                <a:latin typeface="Helvetica Neue"/>
              </a:rPr>
              <a:t>Ongoing care — controlled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3017520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C6570"/>
                </a:solidFill>
                <a:latin typeface="Helvetica Neue"/>
              </a:rPr>
              <a:t>Recurring membership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794760"/>
            <a:ext cx="10607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C6570"/>
                </a:solidFill>
                <a:latin typeface="Helvetica Neue"/>
              </a:rPr>
              <a:t>Siya Health Inc (MSO) + affiliated professional corporation(s) — standard, legally reviewed structure. B2B/employer pricing and MSO management-fee terms are being finalized as the company adds affiliated providers and employer partnerships.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93776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2A37"/>
                </a:solidFill>
                <a:latin typeface="Helvetica Neue"/>
              </a:rPr>
              <a:t>150+ recurring members and growing. Cash-pay means no payer contracts, no reimbursement risk, revenue from day one.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492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C6570"/>
                </a:solidFill>
                <a:latin typeface="Helvetica Neue"/>
              </a:rPr>
              <a:t>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926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2A37"/>
                </a:solidFill>
                <a:latin typeface="Helvetica Neue"/>
              </a:rPr>
              <a:t>Siya Health®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658368"/>
            <a:ext cx="1280160" cy="73152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B8F71"/>
                </a:solidFill>
                <a:latin typeface="Helvetica Neue"/>
              </a:rPr>
              <a:t>Market — bottom-up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4300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A37"/>
                </a:solidFill>
                <a:latin typeface="Helvetica Neue"/>
              </a:rPr>
              <a:t>21.7M working adults live with a diagnosable condition affecting attention, sleep, or focus — most of them undiagnosed or untreated.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0574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C6570"/>
                </a:solidFill>
                <a:latin typeface="Helvetica Neue"/>
              </a:rPr>
              <a:t>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23160" y="2057400"/>
            <a:ext cx="6583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C6570"/>
                </a:solidFill>
                <a:latin typeface="Helvetica Neue"/>
              </a:rPr>
              <a:t>Definition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81160" y="20574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C6570"/>
                </a:solidFill>
                <a:latin typeface="Helvetica Neue"/>
              </a:rPr>
              <a:t>Size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423160"/>
            <a:ext cx="1060704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6060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2A37"/>
                </a:solidFill>
                <a:latin typeface="Helvetica Neue"/>
              </a:rPr>
              <a:t>TAM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3160" y="2587752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A37"/>
                </a:solidFill>
                <a:latin typeface="Helvetica Neue"/>
              </a:rPr>
              <a:t>US clinical services for adult ADHD + clinical insomnia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89720" y="2587752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6B8F71"/>
                </a:solidFill>
                <a:latin typeface="Helvetica Neue"/>
              </a:rPr>
              <a:t>~$18B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200400"/>
            <a:ext cx="10607040" cy="685800"/>
          </a:xfrm>
          <a:prstGeom prst="roundRect">
            <a:avLst>
              <a:gd name="adj" fmla="val 8000"/>
            </a:avLst>
          </a:prstGeom>
          <a:solidFill>
            <a:srgbClr val="DCE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3832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2A37"/>
                </a:solidFill>
                <a:latin typeface="Helvetica Neue"/>
              </a:rPr>
              <a:t>SAM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3364992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A37"/>
                </a:solidFill>
                <a:latin typeface="Helvetica Neue"/>
              </a:rPr>
              <a:t>Employed adults with either condition, telehealth-willing, cash-pay comparable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9720" y="3364992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6B8F71"/>
                </a:solidFill>
                <a:latin typeface="Helvetica Neue"/>
              </a:rPr>
              <a:t>~21.7M people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977640"/>
            <a:ext cx="1060704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1605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2A37"/>
                </a:solidFill>
                <a:latin typeface="Helvetica Neue"/>
              </a:rPr>
              <a:t>SOM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23160" y="4142232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A37"/>
                </a:solidFill>
                <a:latin typeface="Helvetica Neue"/>
              </a:rPr>
              <a:t>Year-3, capacity-derived — 8–10 full-time providers at ~800 patients each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20" y="4142232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6B8F71"/>
                </a:solidFill>
                <a:latin typeface="Helvetica Neue"/>
              </a:rPr>
              <a:t>~$3.8M–4.8M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937760"/>
            <a:ext cx="106070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C6570"/>
                </a:solidFill>
                <a:latin typeface="Helvetica Neue"/>
              </a:rPr>
              <a:t>Built bottom-up: 163M employed U.S. adults (BLS 2026) · 15.5M diagnosed adult ADHD, 63% employed · ~10% clinical insomnia disorder among employed adults · overlap-adjusted (44% ADHD/insomnia comorbidity, per published clinical data). Existing independent contractor network (8 providers) represents additional capacity not included in this Year-3 estimate. Full sizing methodology available in diligence.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92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C6570"/>
                </a:solidFill>
                <a:latin typeface="Helvetica Neue"/>
              </a:rPr>
              <a:t>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926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2A37"/>
                </a:solidFill>
                <a:latin typeface="Helvetica Neue"/>
              </a:rPr>
              <a:t>Siya Health®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658368"/>
            <a:ext cx="1280160" cy="73152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B8F71"/>
                </a:solidFill>
                <a:latin typeface="Helvetica Neue"/>
              </a:rPr>
              <a:t>Competition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7043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A37"/>
                </a:solidFill>
                <a:latin typeface="Helvetica Neue"/>
              </a:rPr>
              <a:t>Different job. Not a feature checklist.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37360"/>
            <a:ext cx="1060704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901952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2A37"/>
                </a:solidFill>
                <a:latin typeface="Helvetica Neue"/>
              </a:rPr>
              <a:t>Employer mental-health platforms
(e.g. Lyra Health)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92040" y="1938528"/>
            <a:ext cx="6217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2A37"/>
                </a:solidFill>
                <a:latin typeface="Helvetica Neue"/>
              </a:rPr>
              <a:t>Broad coverage, not built for objective, condition-specific clinical depth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697480"/>
            <a:ext cx="1060704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862072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2A37"/>
                </a:solidFill>
                <a:latin typeface="Helvetica Neue"/>
              </a:rPr>
              <a:t>Generic access &amp; counseling
(EAPs, episodic telehealth)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2898648"/>
            <a:ext cx="6217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2A37"/>
                </a:solidFill>
                <a:latin typeface="Helvetica Neue"/>
              </a:rPr>
              <a:t>Gets you seen once. No structured monitoring, no concierge follow-through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657600"/>
            <a:ext cx="1060704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822192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2A37"/>
                </a:solidFill>
                <a:latin typeface="Helvetica Neue"/>
              </a:rPr>
              <a:t>DTC brain-training / wellness apps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3858768"/>
            <a:ext cx="6217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2A37"/>
                </a:solidFill>
                <a:latin typeface="Helvetica Neue"/>
              </a:rPr>
              <a:t>Games and self-assessment. Not clinical, no escalation if something real is found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617720"/>
            <a:ext cx="10607040" cy="868680"/>
          </a:xfrm>
          <a:prstGeom prst="roundRect">
            <a:avLst>
              <a:gd name="adj" fmla="val 8000"/>
            </a:avLst>
          </a:prstGeom>
          <a:solidFill>
            <a:srgbClr val="DCE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782312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B8F71"/>
                </a:solidFill>
                <a:latin typeface="Helvetica Neue"/>
              </a:rPr>
              <a:t>Siya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4818888"/>
            <a:ext cx="6217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2A37"/>
                </a:solidFill>
                <a:latin typeface="Helvetica Neue"/>
              </a:rPr>
              <a:t>Clinical-grade screening + a trained concierge team + real escalation to licensed providers, on your schedule, not office hours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71500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C6570"/>
                </a:solidFill>
                <a:latin typeface="Helvetica Neue"/>
              </a:rPr>
              <a:t>No feature matrix. No 'everyone top-right' quadrant.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92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C6570"/>
                </a:solidFill>
                <a:latin typeface="Helvetica Neue"/>
              </a:rP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926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2A37"/>
                </a:solidFill>
                <a:latin typeface="Helvetica Neue"/>
              </a:rPr>
              <a:t>Siya Health®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658368"/>
            <a:ext cx="1280160" cy="73152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B8F71"/>
                </a:solidFill>
                <a:latin typeface="Helvetica Neue"/>
              </a:rPr>
              <a:t>Go-to-market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70432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F2A37"/>
                </a:solidFill>
                <a:latin typeface="Helvetica Neue"/>
              </a:rPr>
              <a:t>Working channels today. Capacity is the job this round funds.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83080"/>
            <a:ext cx="10607040" cy="896112"/>
          </a:xfrm>
          <a:prstGeom prst="roundRect">
            <a:avLst>
              <a:gd name="adj" fmla="val 8000"/>
            </a:avLst>
          </a:prstGeom>
          <a:solidFill>
            <a:srgbClr val="DCE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929384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B8F71"/>
                </a:solidFill>
                <a:latin typeface="Helvetica Neue"/>
              </a:rPr>
              <a:t>01 · 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86200" y="1911096"/>
            <a:ext cx="7132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2A37"/>
                </a:solidFill>
                <a:latin typeface="Helvetica Neue"/>
              </a:rPr>
              <a:t>Channels that fill panels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240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C6570"/>
                </a:solidFill>
                <a:latin typeface="Helvetica Neue"/>
              </a:rPr>
              <a:t>Existing channels + founder-led fill — ~$80 CAC estimate (current channel estimate, not yet a mature/audited figure).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788920"/>
            <a:ext cx="10607040" cy="8961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935224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B8F71"/>
                </a:solidFill>
                <a:latin typeface="Helvetica Neue"/>
              </a:rPr>
              <a:t>02 · Already in motion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86200" y="2916936"/>
            <a:ext cx="7132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2A37"/>
                </a:solidFill>
                <a:latin typeface="Helvetica Neue"/>
              </a:rPr>
              <a:t>Fractional COO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246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C6570"/>
                </a:solidFill>
                <a:latin typeface="Helvetica Neue"/>
              </a:rPr>
              <a:t>Fractional COO since Sept 2026 — driving fundraising readiness and B2B pipeline, self-funded.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794760"/>
            <a:ext cx="10607040" cy="8961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3941064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B8F71"/>
                </a:solidFill>
                <a:latin typeface="Helvetica Neue"/>
              </a:rPr>
              <a:t>03 · This round's job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86200" y="3922776"/>
            <a:ext cx="7132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2A37"/>
                </a:solidFill>
                <a:latin typeface="Helvetica Neue"/>
              </a:rPr>
              <a:t>Clinical capacity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251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C6570"/>
                </a:solidFill>
                <a:latin typeface="Helvetica Neue"/>
              </a:rPr>
              <a:t>Add clinical capacity to serve proven demand.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800600"/>
            <a:ext cx="10607040" cy="8961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4946904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B8F71"/>
                </a:solidFill>
                <a:latin typeface="Helvetica Neue"/>
              </a:rPr>
              <a:t>04 · Timeline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86200" y="4928616"/>
            <a:ext cx="7132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2A37"/>
                </a:solidFill>
                <a:latin typeface="Helvetica Neue"/>
              </a:rPr>
              <a:t>Vendor-delivered CAC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257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C6570"/>
                </a:solidFill>
                <a:latin typeface="Helvetica Neue"/>
              </a:rPr>
              <a:t>Professional-vendor-driven CAC expected within ~6 months of engaging a partner — no calendar promise.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92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C6570"/>
                </a:solidFill>
                <a:latin typeface="Helvetica Neue"/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926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2A37"/>
                </a:solidFill>
                <a:latin typeface="Helvetica Neue"/>
              </a:rPr>
              <a:t>Siya Health®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658368"/>
            <a:ext cx="1280160" cy="73152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B8F71"/>
                </a:solidFill>
                <a:latin typeface="Helvetica Neue"/>
              </a:rPr>
              <a:t>Why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8872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A37"/>
                </a:solidFill>
                <a:latin typeface="Helvetica Neue"/>
              </a:rPr>
              <a:t>Demand is already here. Healthcare hasn't caught up to what working professionals actually need.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331720"/>
            <a:ext cx="1060704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514600"/>
            <a:ext cx="9875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F2A37"/>
                </a:solidFill>
                <a:latin typeface="Helvetica Neue"/>
              </a:rPr>
              <a:t>While carefully screening ADHD patients, we noticed something worth building on: a negative ADHD or PTSD screen doesn't mean nothing is there. Healthcare screens for cognitive and mental health reactively — a PHQ flag in Epic, dementia screening starting at 65. We think tracking these markers longitudinally, especially for working professionals under sustained pressure, is worth building now.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07492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C6570"/>
                </a:solidFill>
                <a:latin typeface="Helvetica Neue"/>
              </a:rPr>
              <a:t>Discipline: SOPs, QA, and multi-state compliance already in place — the bottleneck is capacity and founder bandwidth, not the care model.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C6570"/>
                </a:solidFill>
                <a:latin typeface="Helvetica Neue"/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926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2A37"/>
                </a:solidFill>
                <a:latin typeface="Helvetica Neue"/>
              </a:rPr>
              <a:t>Siya Health®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658368"/>
            <a:ext cx="1280160" cy="73152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B8F71"/>
                </a:solidFill>
                <a:latin typeface="Helvetica Neue"/>
              </a:rPr>
              <a:t>Use of funds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70432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F2A37"/>
                </a:solidFill>
                <a:latin typeface="Helvetica Neue"/>
              </a:rPr>
              <a:t>We're raising $500k to hold capacity and hand off acquisition.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10607040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99339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B8F71"/>
                </a:solidFill>
                <a:latin typeface="Helvetica Neue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975104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2A37"/>
                </a:solidFill>
                <a:latin typeface="Helvetica Neue"/>
              </a:rPr>
              <a:t>Clinical capacity &amp; retention · ~$300k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2304288"/>
            <a:ext cx="9235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C6570"/>
                </a:solidFill>
                <a:latin typeface="Helvetica Neue"/>
              </a:rPr>
              <a:t>Two PA/NP hires (licensing, DEA, malpractice, benefits) + medical director multi-state supervision.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926080"/>
            <a:ext cx="10607040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09067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B8F71"/>
                </a:solidFill>
                <a:latin typeface="Helvetica Neue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3072384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2A37"/>
                </a:solidFill>
                <a:latin typeface="Helvetica Neue"/>
              </a:rPr>
              <a:t>Leadership capacity · ~$100k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401568"/>
            <a:ext cx="9235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C6570"/>
                </a:solidFill>
                <a:latin typeface="Helvetica Neue"/>
              </a:rPr>
              <a:t>Sustains the fractional COO retainer through the 18–24 month runway, already in motion since September 2026.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023360"/>
            <a:ext cx="10607040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187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B8F71"/>
                </a:solidFill>
                <a:latin typeface="Helvetica Neue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4169664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2A37"/>
                </a:solidFill>
                <a:latin typeface="Helvetica Neue"/>
              </a:rPr>
              <a:t>Professional marketing partnership · ~$100k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4498848"/>
            <a:ext cx="9235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C6570"/>
                </a:solidFill>
                <a:latin typeface="Helvetica Neue"/>
              </a:rPr>
              <a:t>Healthcare-specific vendor once capacity is stable.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30352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2A37"/>
                </a:solidFill>
                <a:latin typeface="Helvetica Neue"/>
              </a:rPr>
              <a:t>Objective: Stabilize capacity against proven demand, free founder bandwidth, then replace founder-led acquisition with a professional partner.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92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C6570"/>
                </a:solidFill>
                <a:latin typeface="Helvetica Neue"/>
              </a:rP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926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2A37"/>
                </a:solidFill>
                <a:latin typeface="Helvetica Neue"/>
              </a:rPr>
              <a:t>Siya Health®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658368"/>
            <a:ext cx="1280160" cy="73152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B8F71"/>
                </a:solidFill>
                <a:latin typeface="Helvetica Neue"/>
              </a:rPr>
              <a:t>Founders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430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F2A37"/>
                </a:solidFill>
                <a:latin typeface="Helvetica Neue"/>
              </a:rPr>
              <a:t>Physicians who built the practice before asking for capital.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37360"/>
            <a:ext cx="5212080" cy="3063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r-sneh-pandey-foun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965960"/>
            <a:ext cx="888504" cy="1143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514600" y="20574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2A37"/>
                </a:solidFill>
                <a:latin typeface="Helvetica Neue"/>
              </a:rPr>
              <a:t>Dr. Sneh Pandey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24231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B8F71"/>
                </a:solidFill>
                <a:latin typeface="Helvetica Neue"/>
              </a:rPr>
              <a:t>Founder · CEO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246120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5C6570"/>
                </a:solidFill>
                <a:latin typeface="Helvetica Neue"/>
              </a:rPr>
              <a:t>·  Board-certified physician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5C6570"/>
                </a:solidFill>
                <a:latin typeface="Helvetica Neue"/>
              </a:rPr>
              <a:t>·  10,000+ patient encounters at Siya Health across primary care, obesity, hospital medicine, and ADHD care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5C6570"/>
                </a:solidFill>
                <a:latin typeface="Helvetica Neue"/>
              </a:rPr>
              <a:t>·  Built multi-state practice to 2,700+ patients, cash-flow positive, bootstrapped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737360"/>
            <a:ext cx="5212080" cy="3063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dr-swati-pande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965960"/>
            <a:ext cx="888504" cy="1143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955280" y="20574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2A37"/>
                </a:solidFill>
                <a:latin typeface="Helvetica Neue"/>
              </a:rPr>
              <a:t>Dr. Swati Pandey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0" y="24231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B8F71"/>
                </a:solidFill>
                <a:latin typeface="Helvetica Neue"/>
              </a:rPr>
              <a:t>Co-founder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246120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5C6570"/>
                </a:solidFill>
                <a:latin typeface="Helvetica Neue"/>
              </a:rPr>
              <a:t>·  Board-certified physician, licensed in Pennsylvania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5C6570"/>
                </a:solidFill>
                <a:latin typeface="Helvetica Neue"/>
              </a:rPr>
              <a:t>·  Co-founder and clinical advisor — shapes clinical protocol standards across Siya Health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983480"/>
            <a:ext cx="64008" cy="1234440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3272" y="5029200"/>
            <a:ext cx="102412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F2A37"/>
                </a:solidFill>
                <a:latin typeface="Georgia"/>
              </a:rPr>
              <a:t>I was strict about controlled substances in my own training, long before Siya existed. I'd read about companies getting sued for overprescribing, and I didn't want us to become another cautionary tale. So the pill counts, the random drug screens, the compliance formalities — none of that came from a regulation checklist. It came from not wanting my name attached to a company that cut corners on this.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" y="6126480"/>
            <a:ext cx="10241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C6570"/>
                </a:solidFill>
                <a:latin typeface="Helvetica Neue"/>
              </a:rPr>
              <a:t>— Dr. Sneh Pandey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92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C6570"/>
                </a:solidFill>
                <a:latin typeface="Helvetica Neue"/>
              </a:rP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926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2A37"/>
                </a:solidFill>
                <a:latin typeface="Helvetica Neue"/>
              </a:rPr>
              <a:t>Siya Health®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658368"/>
            <a:ext cx="1280160" cy="73152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3736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2A37"/>
                </a:solidFill>
                <a:latin typeface="Helvetica Neue"/>
              </a:rPr>
              <a:t>Years spent learning how to deliver better care.
This round scales what already works.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474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6B8F71"/>
                </a:solidFill>
                <a:latin typeface="Helvetica Neue"/>
              </a:rPr>
              <a:t>Seed round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931920"/>
            <a:ext cx="7315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1F2A37"/>
                </a:solidFill>
                <a:latin typeface="Helvetica Neue"/>
              </a:rPr>
              <a:t>$500,000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02920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C6570"/>
                </a:solidFill>
                <a:latin typeface="Helvetica Neue"/>
              </a:rPr>
              <a:t>Clinical capacity &amp; retention · Leadership capacity · Professional marketing partnership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C6570"/>
                </a:solidFill>
                <a:latin typeface="Helvetica Neue"/>
              </a:rP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28016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2A37"/>
                </a:solidFill>
                <a:latin typeface="Helvetica Neue"/>
              </a:rPr>
              <a:t>Siya Health®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920240"/>
            <a:ext cx="1280160" cy="73152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3172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1F2A37"/>
                </a:solidFill>
                <a:latin typeface="Helvetica Neue"/>
              </a:rPr>
              <a:t>Let's talk.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520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F2A37"/>
                </a:solidFill>
                <a:latin typeface="Helvetica Neue"/>
              </a:rPr>
              <a:t>Dr. Sneh Pandey · Founder &amp; CEO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0233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6B8F71"/>
                </a:solidFill>
                <a:latin typeface="Helvetica Neue"/>
              </a:rPr>
              <a:t>chiefservant@siya.health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6177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C6570"/>
                </a:solidFill>
                <a:latin typeface="Helvetica Neue"/>
              </a:rPr>
              <a:t>siya.health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C6570"/>
                </a:solidFill>
                <a:latin typeface="Helvetica Neue"/>
              </a:rPr>
              <a:t>16 /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